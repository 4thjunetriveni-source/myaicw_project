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notesSlides/notesSlide10.xml" ContentType="application/vnd.openxmlformats-officedocument.presentationml.notesSlide+xml"/>
  <Override PartName="/ppt/tags/tag11.xml" ContentType="application/vnd.openxmlformats-officedocument.presentationml.tags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71" r:id="rId2"/>
    <p:sldId id="272" r:id="rId3"/>
    <p:sldId id="276" r:id="rId4"/>
    <p:sldId id="279" r:id="rId5"/>
    <p:sldId id="278" r:id="rId6"/>
    <p:sldId id="261" r:id="rId7"/>
    <p:sldId id="281" r:id="rId8"/>
    <p:sldId id="277" r:id="rId9"/>
    <p:sldId id="274" r:id="rId10"/>
    <p:sldId id="265" r:id="rId11"/>
    <p:sldId id="275" r:id="rId12"/>
  </p:sldIdLst>
  <p:sldSz cx="14630400" cy="8229600"/>
  <p:notesSz cx="8229600" cy="14630400"/>
  <p:embeddedFontLst>
    <p:embeddedFont>
      <p:font typeface="Aharoni" panose="02010803020104030203" pitchFamily="2" charset="-79"/>
      <p:bold r:id="rId14"/>
    </p:embeddedFont>
    <p:embeddedFont>
      <p:font typeface="Fraunces Extra Bold" panose="020B0604020202020204" charset="0"/>
      <p:regular r:id="rId15"/>
    </p:embeddedFont>
    <p:embeddedFont>
      <p:font typeface="Imprint MT Shadow" panose="04020605060303030202" pitchFamily="82" charset="0"/>
      <p:regular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Nobile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4" d="100"/>
          <a:sy n="54" d="100"/>
        </p:scale>
        <p:origin x="15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IN" sz="2160" b="1" i="0" u="none" strike="noStrike" baseline="0" dirty="0"/>
              <a:t>Faculty Ratings (Mean Scores)</a:t>
            </a:r>
            <a:endParaRPr lang="en-IN" dirty="0"/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Ratings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Sharma</c:v>
                </c:pt>
                <c:pt idx="1">
                  <c:v>Kulkarni</c:v>
                </c:pt>
                <c:pt idx="2">
                  <c:v>Patil</c:v>
                </c:pt>
                <c:pt idx="3">
                  <c:v>Mehta</c:v>
                </c:pt>
                <c:pt idx="4">
                  <c:v>Joshi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3.44</c:v>
                </c:pt>
                <c:pt idx="1">
                  <c:v>3.3</c:v>
                </c:pt>
                <c:pt idx="2">
                  <c:v>3.29</c:v>
                </c:pt>
                <c:pt idx="3">
                  <c:v>3.15</c:v>
                </c:pt>
                <c:pt idx="4">
                  <c:v>3.09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70-43F9-8885-1F21F4CFE5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248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854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04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109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10B03-7ADB-FB75-DA18-C37645FB3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637B4E-DB8D-7EDD-888D-BB8EE461C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CA587-63BC-7102-534C-0814CCB9D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93E5A-2B91-6897-02CA-56808F36A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230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826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23472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583812" y="1044653"/>
            <a:ext cx="5765333" cy="776034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880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6645389" cy="201885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8027715"/>
            <a:ext cx="12114070" cy="201885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5858830" y="-846394"/>
            <a:ext cx="7363712" cy="3397211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9011773" y="486274"/>
            <a:ext cx="5958531" cy="1703030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12045148" y="-1428505"/>
            <a:ext cx="4598334" cy="3147234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10810944" y="6405918"/>
            <a:ext cx="7363712" cy="3397211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12547513" y="5876031"/>
            <a:ext cx="3467118" cy="1801902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40640" tIns="40640" rIns="40640" bIns="40640" rtlCol="0" anchor="ctr"/>
            <a:lstStyle/>
            <a:p>
              <a:pPr algn="ctr">
                <a:lnSpc>
                  <a:spcPts val="2128"/>
                </a:lnSpc>
              </a:pPr>
              <a:endParaRPr sz="112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9152795" y="1230376"/>
            <a:ext cx="5561139" cy="5561139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112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47112" tIns="47112" rIns="47112" bIns="47112" rtlCol="0" anchor="ctr"/>
            <a:lstStyle/>
            <a:p>
              <a:pPr algn="ctr">
                <a:lnSpc>
                  <a:spcPts val="2128"/>
                </a:lnSpc>
                <a:spcBef>
                  <a:spcPct val="0"/>
                </a:spcBef>
              </a:pPr>
              <a:endParaRPr sz="112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7703706" y="788501"/>
            <a:ext cx="1371302" cy="255405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112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13497499" y="7012605"/>
            <a:ext cx="1371302" cy="255405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112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13962013" y="7315200"/>
            <a:ext cx="1371302" cy="255405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112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30411" y="4685884"/>
            <a:ext cx="6841814" cy="689728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112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40640" tIns="40640" rIns="40640" bIns="40640" rtlCol="0" anchor="ctr"/>
              <a:lstStyle/>
              <a:p>
                <a:pPr algn="ctr">
                  <a:lnSpc>
                    <a:spcPts val="2128"/>
                  </a:lnSpc>
                </a:pPr>
                <a:endParaRPr sz="112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71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09"/>
                </a:lnSpc>
              </a:pPr>
              <a:r>
                <a:rPr lang="en-US" sz="2240" b="1" spc="93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6754627" y="6873899"/>
            <a:ext cx="2613491" cy="248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74"/>
              </a:lnSpc>
            </a:pPr>
            <a:r>
              <a:rPr lang="en-US" sz="16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Faculty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6765709" y="7088101"/>
            <a:ext cx="2613491" cy="2769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TRIVENI S. MASTI</a:t>
            </a:r>
            <a:endParaRPr lang="en-US" b="1" dirty="0"/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757" t="2453" r="27842" b="53701"/>
          <a:stretch>
            <a:fillRect/>
          </a:stretch>
        </p:blipFill>
        <p:spPr>
          <a:xfrm>
            <a:off x="6106778" y="6815198"/>
            <a:ext cx="632530" cy="610872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4206133" y="6947010"/>
            <a:ext cx="2895965" cy="248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74"/>
              </a:lnSpc>
            </a:pPr>
            <a:r>
              <a:rPr lang="en-US" sz="16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Faculty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833211" y="7227584"/>
            <a:ext cx="3536839" cy="383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261"/>
              </a:lnSpc>
            </a:pPr>
            <a:r>
              <a:rPr lang="en-US" sz="20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4thjunetriveni@gmail.com</a:t>
            </a:r>
            <a:endParaRPr lang="en-US" sz="192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859" t="52379" r="26874" b="2349"/>
          <a:stretch>
            <a:fillRect/>
          </a:stretch>
        </p:blipFill>
        <p:spPr>
          <a:xfrm>
            <a:off x="3426145" y="6776982"/>
            <a:ext cx="637246" cy="623550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1353409" y="6784830"/>
            <a:ext cx="3636594" cy="806311"/>
            <a:chOff x="3125120" y="4198721"/>
            <a:chExt cx="2272871" cy="503944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54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74"/>
                </a:lnSpc>
              </a:pPr>
              <a:endParaRPr lang="en-US" sz="16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endParaRP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25120" y="4198721"/>
              <a:ext cx="2272871" cy="5039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261"/>
                </a:lnSpc>
              </a:pPr>
              <a:r>
                <a:rPr lang="en-US" sz="192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Guide Name</a:t>
              </a:r>
            </a:p>
            <a:p>
              <a:pPr>
                <a:lnSpc>
                  <a:spcPts val="3261"/>
                </a:lnSpc>
              </a:pPr>
              <a:r>
                <a:rPr lang="en-IN" b="1" dirty="0"/>
                <a:t>Uma Maheshwari</a:t>
              </a:r>
              <a:endParaRPr lang="en-US" sz="192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8109" t="6546" r="28551" b="49509"/>
          <a:stretch>
            <a:fillRect/>
          </a:stretch>
        </p:blipFill>
        <p:spPr>
          <a:xfrm>
            <a:off x="716350" y="6955118"/>
            <a:ext cx="601304" cy="609701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1025173" y="1231595"/>
            <a:ext cx="4882608" cy="41378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9284522" y="3695061"/>
            <a:ext cx="4535424" cy="175565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 sz="288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9834181" y="3861933"/>
            <a:ext cx="3950208" cy="175565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 sz="288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10371402" y="4045888"/>
            <a:ext cx="3364992" cy="175565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 sz="288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10777141" y="4235558"/>
            <a:ext cx="2995274" cy="186030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 sz="288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9729"/>
          <a:stretch>
            <a:fillRect/>
          </a:stretch>
        </p:blipFill>
        <p:spPr>
          <a:xfrm>
            <a:off x="278007" y="1674491"/>
            <a:ext cx="6166805" cy="2959248"/>
          </a:xfrm>
          <a:prstGeom prst="rect">
            <a:avLst/>
          </a:prstGeom>
        </p:spPr>
      </p:pic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C81DED0E-8121-4A62-5E99-A69B8B50A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382399"/>
              </p:ext>
            </p:extLst>
          </p:nvPr>
        </p:nvGraphicFramePr>
        <p:xfrm>
          <a:off x="7462" y="5540902"/>
          <a:ext cx="7898027" cy="81686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898027">
                  <a:extLst>
                    <a:ext uri="{9D8B030D-6E8A-4147-A177-3AD203B41FA5}">
                      <a16:colId xmlns:a16="http://schemas.microsoft.com/office/drawing/2014/main" val="3438802165"/>
                    </a:ext>
                  </a:extLst>
                </a:gridCol>
              </a:tblGrid>
              <a:tr h="593344">
                <a:tc>
                  <a:txBody>
                    <a:bodyPr/>
                    <a:lstStyle/>
                    <a:p>
                      <a:r>
                        <a:rPr lang="en-US" sz="2200" b="1" kern="1200" dirty="0">
                          <a:solidFill>
                            <a:srgbClr val="0D358D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Student Feedback &amp; Teaching Improvement Analyzer</a:t>
                      </a:r>
                    </a:p>
                    <a:p>
                      <a:endParaRPr lang="en-IN" sz="2200" b="1" kern="1200" dirty="0">
                        <a:solidFill>
                          <a:srgbClr val="0D358D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46304" marR="146304" marT="73152" marB="73152"/>
                </a:tc>
                <a:extLst>
                  <a:ext uri="{0D108BD9-81ED-4DB2-BD59-A6C34878D82A}">
                    <a16:rowId xmlns:a16="http://schemas.microsoft.com/office/drawing/2014/main" val="2841395308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08560" y="274088"/>
            <a:ext cx="3483546" cy="702259"/>
          </a:xfrm>
          <a:prstGeom prst="rect">
            <a:avLst/>
          </a:prstGeom>
          <a:noFill/>
          <a:ln>
            <a:noFill/>
          </a:ln>
          <a:effectLst>
            <a:glow rad="101600">
              <a:schemeClr val="accent5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  <a:reflection blurRad="6350" stA="50000" endA="300" endPos="90000" dist="50800" dir="5400000" sy="-100000" algn="bl" rotWithShape="0"/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1B3A8A"/>
                </a:solidFill>
                <a:highlight>
                  <a:srgbClr val="00FF00"/>
                </a:highlight>
                <a:latin typeface="Imprint MT Shadow" panose="04020605060303030202" pitchFamily="82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4800" dirty="0">
              <a:highlight>
                <a:srgbClr val="00FF00"/>
              </a:highlight>
              <a:latin typeface="Imprint MT Shadow" panose="04020605060303030202" pitchFamily="82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200383" y="1728965"/>
            <a:ext cx="7114818" cy="535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80" dirty="0">
                <a:solidFill>
                  <a:schemeClr val="accent1"/>
                </a:solidFill>
                <a:latin typeface="Aharoni" panose="02010803020104030203" pitchFamily="2" charset="-79"/>
                <a:ea typeface="Times New Roman" panose="02020603050405020304" pitchFamily="18" charset="0"/>
                <a:cs typeface="Aharoni" panose="02010803020104030203" pitchFamily="2" charset="-79"/>
              </a:rPr>
              <a:t>Abstract of the Project</a:t>
            </a:r>
            <a:endParaRPr lang="en-IN" sz="2880" dirty="0">
              <a:solidFill>
                <a:schemeClr val="accent1"/>
              </a:solidFill>
              <a:latin typeface="Aharoni" panose="02010803020104030203" pitchFamily="2" charset="-79"/>
              <a:ea typeface="Times New Roman" panose="02020603050405020304" pitchFamily="18" charset="0"/>
              <a:cs typeface="Aharoni" panose="02010803020104030203" pitchFamily="2" charset="-79"/>
            </a:endParaRP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80" dirty="0">
                <a:solidFill>
                  <a:schemeClr val="accent1"/>
                </a:solidFill>
                <a:latin typeface="Aharoni" panose="02010803020104030203" pitchFamily="2" charset="-79"/>
                <a:ea typeface="+mn-lt"/>
                <a:cs typeface="Aharoni" panose="02010803020104030203" pitchFamily="2" charset="-79"/>
              </a:rPr>
              <a:t>Problem Statement</a:t>
            </a: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00" dirty="0">
                <a:solidFill>
                  <a:schemeClr val="accent1"/>
                </a:solidFill>
                <a:latin typeface="Aharoni" panose="02010803020104030203" pitchFamily="2" charset="-79"/>
                <a:ea typeface="Calibri" pitchFamily="34" charset="-122"/>
                <a:cs typeface="Aharoni" panose="02010803020104030203" pitchFamily="2" charset="-79"/>
              </a:rPr>
              <a:t>Live Demo of Project</a:t>
            </a: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00" b="1" i="1" dirty="0">
                <a:solidFill>
                  <a:schemeClr val="accent1"/>
                </a:solidFill>
                <a:latin typeface="Aharoni" panose="02010803020104030203" pitchFamily="2" charset="-79"/>
                <a:ea typeface="Fraunces Extra Bold" pitchFamily="34" charset="-122"/>
                <a:cs typeface="Aharoni" panose="02010803020104030203" pitchFamily="2" charset="-79"/>
              </a:rPr>
              <a:t>Faculty Performance Analysis</a:t>
            </a: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00" b="1" dirty="0">
                <a:solidFill>
                  <a:schemeClr val="accent1"/>
                </a:solidFill>
                <a:latin typeface="Aharoni" panose="02010803020104030203" pitchFamily="2" charset="-79"/>
                <a:ea typeface="Fraunces Extra Bold" pitchFamily="34" charset="-122"/>
                <a:cs typeface="Aharoni" panose="02010803020104030203" pitchFamily="2" charset="-79"/>
              </a:rPr>
              <a:t>Issue Category Distribution</a:t>
            </a: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00" b="1" i="1" dirty="0">
                <a:solidFill>
                  <a:schemeClr val="accent1"/>
                </a:solidFill>
                <a:latin typeface="Aharoni" panose="02010803020104030203" pitchFamily="2" charset="-79"/>
                <a:ea typeface="Fraunces Extra Bold" pitchFamily="34" charset="-122"/>
                <a:cs typeface="Aharoni" panose="02010803020104030203" pitchFamily="2" charset="-79"/>
              </a:rPr>
              <a:t>Course Recommendation Analysis</a:t>
            </a:r>
            <a:endParaRPr lang="en-US" sz="2800" i="1" dirty="0">
              <a:solidFill>
                <a:schemeClr val="accent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80" dirty="0">
                <a:solidFill>
                  <a:schemeClr val="accent1"/>
                </a:solidFill>
                <a:latin typeface="Aharoni" panose="02010803020104030203" pitchFamily="2" charset="-79"/>
                <a:ea typeface="+mn-lt"/>
                <a:cs typeface="Aharoni" panose="02010803020104030203" pitchFamily="2" charset="-79"/>
              </a:rPr>
              <a:t>Proposed Solution</a:t>
            </a: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00" b="1" dirty="0">
                <a:solidFill>
                  <a:schemeClr val="accent1"/>
                </a:solidFill>
                <a:latin typeface="Aharoni" panose="02010803020104030203" pitchFamily="2" charset="-79"/>
                <a:ea typeface="Calibri" pitchFamily="34" charset="-122"/>
                <a:cs typeface="Aharoni" panose="02010803020104030203" pitchFamily="2" charset="-79"/>
              </a:rPr>
              <a:t>Conclusion: Key Insights &amp; Findings </a:t>
            </a:r>
          </a:p>
          <a:p>
            <a:pPr marL="365760" indent="-365760">
              <a:spcAft>
                <a:spcPts val="1280"/>
              </a:spcAft>
              <a:buFont typeface="Arial" panose="020B0604020202020204" pitchFamily="34" charset="0"/>
              <a:buChar char="•"/>
              <a:tabLst>
                <a:tab pos="6766560" algn="ctr"/>
              </a:tabLst>
            </a:pPr>
            <a:r>
              <a:rPr lang="en-US" sz="2880" dirty="0">
                <a:solidFill>
                  <a:schemeClr val="accent1"/>
                </a:solidFill>
                <a:latin typeface="Aharoni" panose="02010803020104030203" pitchFamily="2" charset="-79"/>
                <a:ea typeface="+mn-lt"/>
                <a:cs typeface="Aharoni" panose="02010803020104030203" pitchFamily="2" charset="-79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8606118" y="1654921"/>
            <a:ext cx="4589930" cy="52640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1042" y="1398016"/>
            <a:ext cx="6315584" cy="6315584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639604" y="574453"/>
            <a:ext cx="13167360" cy="7022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3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Shape 1">
            <a:extLst>
              <a:ext uri="{FF2B5EF4-FFF2-40B4-BE49-F238E27FC236}">
                <a16:creationId xmlns:a16="http://schemas.microsoft.com/office/drawing/2014/main" id="{34BCDFA9-B8D4-E5F8-FD10-A8847AED1220}"/>
              </a:ext>
            </a:extLst>
          </p:cNvPr>
          <p:cNvSpPr/>
          <p:nvPr/>
        </p:nvSpPr>
        <p:spPr>
          <a:xfrm>
            <a:off x="793790" y="1713190"/>
            <a:ext cx="6429494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354F249-366B-4117-E1E4-D2384D767B41}"/>
              </a:ext>
            </a:extLst>
          </p:cNvPr>
          <p:cNvSpPr/>
          <p:nvPr/>
        </p:nvSpPr>
        <p:spPr>
          <a:xfrm>
            <a:off x="770930" y="1713190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7CEA3703-0D03-70C5-D8A0-7ED2EA1C9650}"/>
              </a:ext>
            </a:extLst>
          </p:cNvPr>
          <p:cNvSpPr/>
          <p:nvPr/>
        </p:nvSpPr>
        <p:spPr>
          <a:xfrm>
            <a:off x="1073587" y="1780698"/>
            <a:ext cx="4167664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2000" b="1" i="1" dirty="0"/>
              <a:t>Lack of Multilingual Feedback Processing</a:t>
            </a:r>
            <a:endParaRPr lang="en-IN" sz="2000" i="1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0D48704-E353-47A5-DE87-7849AD7E5CC5}"/>
              </a:ext>
            </a:extLst>
          </p:cNvPr>
          <p:cNvSpPr/>
          <p:nvPr/>
        </p:nvSpPr>
        <p:spPr>
          <a:xfrm>
            <a:off x="1089303" y="2099548"/>
            <a:ext cx="5907048" cy="153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IN" dirty="0"/>
              <a:t>The existing system does not support feedback submitted in </a:t>
            </a:r>
            <a:r>
              <a:rPr lang="en-IN" b="1" dirty="0"/>
              <a:t>regional or native languages</a:t>
            </a:r>
            <a:r>
              <a:rPr lang="en-IN" dirty="0"/>
              <a:t>, leading to the exclusion of a significant portion of student responses. This results in a </a:t>
            </a:r>
            <a:r>
              <a:rPr lang="en-IN" b="1" dirty="0"/>
              <a:t>representation bias</a:t>
            </a:r>
            <a:r>
              <a:rPr lang="en-IN" dirty="0"/>
              <a:t> and limits the inclusivity and comprehensiveness of the analysis. 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8776CA5-0D69-5248-CBC4-6ABC427A2E81}"/>
              </a:ext>
            </a:extLst>
          </p:cNvPr>
          <p:cNvSpPr/>
          <p:nvPr/>
        </p:nvSpPr>
        <p:spPr>
          <a:xfrm>
            <a:off x="7406997" y="1713190"/>
            <a:ext cx="6429613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B3B777D-37AF-B7EC-8665-8B597EE95220}"/>
              </a:ext>
            </a:extLst>
          </p:cNvPr>
          <p:cNvSpPr/>
          <p:nvPr/>
        </p:nvSpPr>
        <p:spPr>
          <a:xfrm>
            <a:off x="7384137" y="1713190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010293A-6075-F268-BF48-BA136285B35A}"/>
              </a:ext>
            </a:extLst>
          </p:cNvPr>
          <p:cNvSpPr/>
          <p:nvPr/>
        </p:nvSpPr>
        <p:spPr>
          <a:xfrm>
            <a:off x="7702510" y="1940123"/>
            <a:ext cx="3770471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Lack of Standardized Metrics</a:t>
            </a:r>
            <a:endParaRPr lang="en-US" sz="20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F0C6A3B-BEAA-8AC1-BED0-D99CEBED7B36}"/>
              </a:ext>
            </a:extLst>
          </p:cNvPr>
          <p:cNvSpPr/>
          <p:nvPr/>
        </p:nvSpPr>
        <p:spPr>
          <a:xfrm>
            <a:off x="7702510" y="2369106"/>
            <a:ext cx="5907167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No uniform framework for faculty evaluation makes comparative analysis difficult and subjective judgments more likely.</a:t>
            </a:r>
            <a:endParaRPr lang="en-US" sz="16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FC92237-A873-EF0D-1C1D-A40D127C897E}"/>
              </a:ext>
            </a:extLst>
          </p:cNvPr>
          <p:cNvSpPr/>
          <p:nvPr/>
        </p:nvSpPr>
        <p:spPr>
          <a:xfrm>
            <a:off x="793790" y="3710583"/>
            <a:ext cx="6429494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715E417-1033-4335-5417-65F2ED08CB79}"/>
              </a:ext>
            </a:extLst>
          </p:cNvPr>
          <p:cNvSpPr/>
          <p:nvPr/>
        </p:nvSpPr>
        <p:spPr>
          <a:xfrm>
            <a:off x="770930" y="3710583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AD3BB66-34E6-A9D2-D784-66013453AE0D}"/>
              </a:ext>
            </a:extLst>
          </p:cNvPr>
          <p:cNvSpPr/>
          <p:nvPr/>
        </p:nvSpPr>
        <p:spPr>
          <a:xfrm>
            <a:off x="1089303" y="3937516"/>
            <a:ext cx="4272915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IN" sz="2000" b="1" i="1" dirty="0"/>
              <a:t>Lack of Personalized Faculty Improvement Roadmaps</a:t>
            </a:r>
            <a:endParaRPr lang="en-US" sz="2400" i="1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953A15B4-9661-FDF5-B41C-81B50E46A097}"/>
              </a:ext>
            </a:extLst>
          </p:cNvPr>
          <p:cNvSpPr/>
          <p:nvPr/>
        </p:nvSpPr>
        <p:spPr>
          <a:xfrm>
            <a:off x="1089303" y="4366497"/>
            <a:ext cx="5907048" cy="1114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dirty="0"/>
              <a:t>The system identifies strengths and weaknesses but lacks personalized recommendations and development plans, limiting its effectiveness in improving teaching quality.</a:t>
            </a:r>
            <a:r>
              <a:rPr lang="en-US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6811AAF2-BC2C-EA63-C0A8-356769E0A9F3}"/>
              </a:ext>
            </a:extLst>
          </p:cNvPr>
          <p:cNvSpPr/>
          <p:nvPr/>
        </p:nvSpPr>
        <p:spPr>
          <a:xfrm>
            <a:off x="7406997" y="3710583"/>
            <a:ext cx="6429613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D4FB3485-D52C-4BBC-751E-0CC073EABA73}"/>
              </a:ext>
            </a:extLst>
          </p:cNvPr>
          <p:cNvSpPr/>
          <p:nvPr/>
        </p:nvSpPr>
        <p:spPr>
          <a:xfrm>
            <a:off x="7384137" y="3710583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5790A47-B6F9-313B-07AD-13A1124EDF96}"/>
              </a:ext>
            </a:extLst>
          </p:cNvPr>
          <p:cNvSpPr/>
          <p:nvPr/>
        </p:nvSpPr>
        <p:spPr>
          <a:xfrm>
            <a:off x="7702510" y="3937516"/>
            <a:ext cx="328195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b="1" i="1" dirty="0">
                <a:latin typeface="Fraunces Extra Bold" panose="020B0604020202020204" charset="0"/>
              </a:rPr>
              <a:t>Absence of Longitudinal Performance Tracking</a:t>
            </a:r>
            <a:endParaRPr lang="en-IN" i="1" dirty="0">
              <a:latin typeface="Fraunces Extra Bold" panose="020B0604020202020204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17BF22F9-80D1-B41B-1E40-7A32BF264C0C}"/>
              </a:ext>
            </a:extLst>
          </p:cNvPr>
          <p:cNvSpPr/>
          <p:nvPr/>
        </p:nvSpPr>
        <p:spPr>
          <a:xfrm>
            <a:off x="7702510" y="4366498"/>
            <a:ext cx="5907167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/>
              <a:t>The current design lacks long-term tracking of faculty performance across semesters, making it difficult to identify trends, improvements, or declines and limiting effective academic planning.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63B79923-E04B-FCAE-1F85-1C99D4D97467}"/>
              </a:ext>
            </a:extLst>
          </p:cNvPr>
          <p:cNvSpPr/>
          <p:nvPr/>
        </p:nvSpPr>
        <p:spPr>
          <a:xfrm>
            <a:off x="793790" y="5707975"/>
            <a:ext cx="6429494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521935F7-1247-A346-3A31-CEA1498549ED}"/>
              </a:ext>
            </a:extLst>
          </p:cNvPr>
          <p:cNvSpPr/>
          <p:nvPr/>
        </p:nvSpPr>
        <p:spPr>
          <a:xfrm>
            <a:off x="770930" y="5707975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DEFFCE-5CBE-A19D-F93E-83B2C96EFD52}"/>
              </a:ext>
            </a:extLst>
          </p:cNvPr>
          <p:cNvSpPr/>
          <p:nvPr/>
        </p:nvSpPr>
        <p:spPr>
          <a:xfrm>
            <a:off x="1089303" y="5934908"/>
            <a:ext cx="314479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No Continuous Tracking</a:t>
            </a:r>
            <a:endParaRPr lang="en-US" sz="20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EE592A1A-9ED0-4608-CA8B-8A8F6DC0643E}"/>
              </a:ext>
            </a:extLst>
          </p:cNvPr>
          <p:cNvSpPr/>
          <p:nvPr/>
        </p:nvSpPr>
        <p:spPr>
          <a:xfrm>
            <a:off x="1089303" y="6363891"/>
            <a:ext cx="5907048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Faculty performance isn't monitored over time, preventing longitudinal improvement measurement and personalized development plans.</a:t>
            </a:r>
            <a:endParaRPr lang="en-US" sz="1600" dirty="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C8BA110E-820F-2AF6-B5F4-221261D5F7BA}"/>
              </a:ext>
            </a:extLst>
          </p:cNvPr>
          <p:cNvSpPr/>
          <p:nvPr/>
        </p:nvSpPr>
        <p:spPr>
          <a:xfrm>
            <a:off x="7406997" y="5707975"/>
            <a:ext cx="6429613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B9931453-D4ED-E2E2-9F0F-EC0797BA60DA}"/>
              </a:ext>
            </a:extLst>
          </p:cNvPr>
          <p:cNvSpPr/>
          <p:nvPr/>
        </p:nvSpPr>
        <p:spPr>
          <a:xfrm>
            <a:off x="7384137" y="5707975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25F5B084-CCDC-944F-231B-2F9917DF1444}"/>
              </a:ext>
            </a:extLst>
          </p:cNvPr>
          <p:cNvSpPr/>
          <p:nvPr/>
        </p:nvSpPr>
        <p:spPr>
          <a:xfrm>
            <a:off x="7702510" y="5934908"/>
            <a:ext cx="4115276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Missing Real-Time Intervention</a:t>
            </a:r>
            <a:endParaRPr lang="en-US" sz="20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A4F3A11-1DE4-F146-8F16-CAC427EAFB44}"/>
              </a:ext>
            </a:extLst>
          </p:cNvPr>
          <p:cNvSpPr/>
          <p:nvPr/>
        </p:nvSpPr>
        <p:spPr>
          <a:xfrm>
            <a:off x="7702510" y="6363891"/>
            <a:ext cx="5907167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Without immediate feedback loops, opportunities for timely course correction and student support are lost during the semester.</a:t>
            </a:r>
            <a:endParaRPr lang="en-US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4116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9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9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0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0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0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1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20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20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47083" y="-11733"/>
            <a:ext cx="6968117" cy="5826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3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00779" y="1319004"/>
            <a:ext cx="264593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ts val="5850"/>
              </a:lnSpc>
            </a:pPr>
            <a:endParaRPr lang="en-US" sz="3200" b="1" dirty="0">
              <a:solidFill>
                <a:srgbClr val="405449"/>
              </a:solidFill>
              <a:latin typeface="Fraunces Extra Bold" pitchFamily="34" charset="0"/>
              <a:ea typeface="Fraunces Extra Bold" pitchFamily="34" charset="-122"/>
              <a:cs typeface="Fraunces Extra Bold" pitchFamily="34" charset="-120"/>
            </a:endParaRPr>
          </a:p>
          <a:p>
            <a:pPr algn="ctr">
              <a:lnSpc>
                <a:spcPts val="5850"/>
              </a:lnSpc>
            </a:pPr>
            <a:r>
              <a:rPr lang="en-US" sz="3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3.26</a:t>
            </a:r>
          </a:p>
          <a:p>
            <a:pPr algn="ctr">
              <a:lnSpc>
                <a:spcPts val="5850"/>
              </a:lnSpc>
            </a:pP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58367" y="5580479"/>
            <a:ext cx="4710989" cy="12858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149901" y="3862083"/>
            <a:ext cx="4462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69357" y="4671741"/>
            <a:ext cx="4023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987430" y="2637179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5760" dirty="0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860890" y="3862083"/>
            <a:ext cx="4462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80346" y="4671741"/>
            <a:ext cx="4023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9DCEF4-29D4-17C5-1E74-B77C08009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264" y="2391828"/>
            <a:ext cx="9093817" cy="52339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87BED5-1AAE-4CEE-DAB2-23D4C81099D4}"/>
              </a:ext>
            </a:extLst>
          </p:cNvPr>
          <p:cNvSpPr txBox="1"/>
          <p:nvPr/>
        </p:nvSpPr>
        <p:spPr>
          <a:xfrm>
            <a:off x="4901830" y="603849"/>
            <a:ext cx="3842457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Dashboard Snapshot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5EA2E6-63F0-FFAA-EEBC-D79F2B23F8F6}"/>
              </a:ext>
            </a:extLst>
          </p:cNvPr>
          <p:cNvSpPr txBox="1"/>
          <p:nvPr/>
        </p:nvSpPr>
        <p:spPr>
          <a:xfrm>
            <a:off x="200779" y="1747666"/>
            <a:ext cx="3129017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IN" sz="2400" dirty="0"/>
              <a:t>Average Faculty Rating: </a:t>
            </a:r>
            <a:endParaRPr lang="en-US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0D6F09-F7AB-D3D1-0CB8-2F0626CFEAE7}"/>
              </a:ext>
            </a:extLst>
          </p:cNvPr>
          <p:cNvSpPr txBox="1"/>
          <p:nvPr/>
        </p:nvSpPr>
        <p:spPr>
          <a:xfrm>
            <a:off x="0" y="2231971"/>
            <a:ext cx="3842457" cy="810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8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Mean score across all courses and faculty</a:t>
            </a:r>
            <a:endParaRPr lang="en-US" sz="18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8A1DB2-29F5-2D80-5AFE-72F3117FCF30}"/>
              </a:ext>
            </a:extLst>
          </p:cNvPr>
          <p:cNvSpPr txBox="1"/>
          <p:nvPr/>
        </p:nvSpPr>
        <p:spPr>
          <a:xfrm>
            <a:off x="-137391" y="3460423"/>
            <a:ext cx="4327454" cy="11663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IN" sz="2000" b="1" dirty="0">
                <a:latin typeface="Aharoni" panose="02010803020104030203" pitchFamily="2" charset="-79"/>
                <a:cs typeface="Aharoni" panose="02010803020104030203" pitchFamily="2" charset="-79"/>
              </a:rPr>
              <a:t>Total Feedback Responses: 1000 </a:t>
            </a:r>
          </a:p>
          <a:p>
            <a:pPr algn="ctr">
              <a:lnSpc>
                <a:spcPts val="2750"/>
              </a:lnSpc>
            </a:pPr>
            <a:r>
              <a:rPr lang="en-US" sz="2000" b="1" dirty="0">
                <a:solidFill>
                  <a:srgbClr val="405449"/>
                </a:solidFill>
                <a:latin typeface="Aharoni" panose="02010803020104030203" pitchFamily="2" charset="-79"/>
                <a:ea typeface="Nobile" pitchFamily="34" charset="-122"/>
                <a:cs typeface="Aharoni" panose="02010803020104030203" pitchFamily="2" charset="-79"/>
              </a:rPr>
              <a:t>Total student responses analyzed</a:t>
            </a:r>
            <a:endParaRPr lang="en-US" sz="2000" b="1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algn="ctr">
              <a:lnSpc>
                <a:spcPts val="2750"/>
              </a:lnSpc>
            </a:pPr>
            <a:endParaRPr lang="en-US" sz="1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4DC7DC-A2D3-49BE-9D90-456154689A02}"/>
              </a:ext>
            </a:extLst>
          </p:cNvPr>
          <p:cNvSpPr txBox="1"/>
          <p:nvPr/>
        </p:nvSpPr>
        <p:spPr>
          <a:xfrm>
            <a:off x="409651" y="4520451"/>
            <a:ext cx="3678522" cy="741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850"/>
              </a:lnSpc>
            </a:pPr>
            <a:r>
              <a:rPr lang="en-US" sz="2400" b="1" dirty="0"/>
              <a:t>Top Faculty-</a:t>
            </a:r>
            <a:r>
              <a:rPr lang="en-US" sz="2400" dirty="0"/>
              <a:t> Prof. Sharma </a:t>
            </a:r>
            <a:endParaRPr lang="en-US" sz="24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EF40B7-E802-000D-E607-CB7F1EEA7237}"/>
              </a:ext>
            </a:extLst>
          </p:cNvPr>
          <p:cNvSpPr txBox="1"/>
          <p:nvPr/>
        </p:nvSpPr>
        <p:spPr>
          <a:xfrm>
            <a:off x="347083" y="5601008"/>
            <a:ext cx="3493996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IN" sz="2400" b="1" dirty="0"/>
              <a:t>Clarity Issues Reported: 38.4%</a:t>
            </a:r>
            <a:endParaRPr lang="en-US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4531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08560" y="964672"/>
            <a:ext cx="13167360" cy="7022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2957" y="2047641"/>
            <a:ext cx="6144768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18701" y="2047641"/>
            <a:ext cx="6144768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22957" y="4810291"/>
            <a:ext cx="6144768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18701" y="5483290"/>
            <a:ext cx="6437376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5404A3D-57D2-ABAB-B04F-EBDF6699D6CA}"/>
              </a:ext>
            </a:extLst>
          </p:cNvPr>
          <p:cNvSpPr/>
          <p:nvPr/>
        </p:nvSpPr>
        <p:spPr>
          <a:xfrm>
            <a:off x="1673523" y="0"/>
            <a:ext cx="10403457" cy="1010974"/>
          </a:xfrm>
          <a:prstGeom prst="ellipse">
            <a:avLst/>
          </a:prstGeom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prst="convex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5550"/>
              </a:lnSpc>
            </a:pPr>
            <a:r>
              <a:rPr lang="en-US" sz="3600" b="1" i="1" dirty="0">
                <a:solidFill>
                  <a:schemeClr val="accent2">
                    <a:lumMod val="20000"/>
                    <a:lumOff val="80000"/>
                  </a:schemeClr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Faculty Performance Analysis</a:t>
            </a:r>
            <a:endParaRPr lang="en-US" sz="3600" i="1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38071FDA-2C8D-249D-818F-FA7DEE503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8783"/>
              </p:ext>
            </p:extLst>
          </p:nvPr>
        </p:nvGraphicFramePr>
        <p:xfrm>
          <a:off x="5523831" y="2173857"/>
          <a:ext cx="8532246" cy="5553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111F7ED-120B-4C82-5B19-6AD7940B7598}"/>
              </a:ext>
            </a:extLst>
          </p:cNvPr>
          <p:cNvSpPr txBox="1"/>
          <p:nvPr/>
        </p:nvSpPr>
        <p:spPr>
          <a:xfrm>
            <a:off x="208560" y="1350085"/>
            <a:ext cx="4863772" cy="2669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8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Comparative analysis reveals performance variations across teaching staff, enabling targeted professional development and recognition of excellence. The visualization identifies top performers while highlighting faculty requiring additional support or training resources.</a:t>
            </a:r>
            <a:endParaRPr lang="en-US" sz="1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6286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211" y="0"/>
            <a:ext cx="6280189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826895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811429"/>
            <a:ext cx="350150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dirty="0"/>
              <a:t>"Primary Issue Reported: Clarity (38.4%)"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4746903"/>
            <a:ext cx="35015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Students most frequently report difficulty understanding course material and explanations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4856320" y="3811428"/>
            <a:ext cx="3131739" cy="1173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dirty="0"/>
              <a:t>"</a:t>
            </a:r>
            <a:r>
              <a:rPr lang="en-US" sz="2400" b="1" dirty="0"/>
              <a:t>Secondary Issues</a:t>
            </a:r>
            <a:r>
              <a:rPr lang="en-US" sz="2400" dirty="0"/>
              <a:t>: </a:t>
            </a:r>
          </a:p>
          <a:p>
            <a:pPr>
              <a:lnSpc>
                <a:spcPts val="2750"/>
              </a:lnSpc>
            </a:pPr>
            <a:r>
              <a:rPr lang="en-US" sz="2400" dirty="0"/>
              <a:t>Engagement, pacing, </a:t>
            </a:r>
          </a:p>
          <a:p>
            <a:pPr>
              <a:lnSpc>
                <a:spcPts val="2750"/>
              </a:lnSpc>
            </a:pPr>
            <a:r>
              <a:rPr lang="en-US" sz="2400" dirty="0"/>
              <a:t>and assessment methods"</a:t>
            </a:r>
          </a:p>
        </p:txBody>
      </p:sp>
      <p:sp>
        <p:nvSpPr>
          <p:cNvPr id="7" name="Text 4"/>
          <p:cNvSpPr/>
          <p:nvPr/>
        </p:nvSpPr>
        <p:spPr>
          <a:xfrm>
            <a:off x="4848702" y="5313879"/>
            <a:ext cx="35015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Engagement, pacing, and assessment methods represent additional improvement opportunities.</a:t>
            </a:r>
            <a:endParaRPr lang="en-US" sz="1750" dirty="0"/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18854590-41D5-8114-7165-C8F1CC0F4FDA}"/>
              </a:ext>
            </a:extLst>
          </p:cNvPr>
          <p:cNvSpPr/>
          <p:nvPr/>
        </p:nvSpPr>
        <p:spPr>
          <a:xfrm>
            <a:off x="638355" y="891479"/>
            <a:ext cx="6676845" cy="1139608"/>
          </a:xfrm>
          <a:prstGeom prst="flowChartAlternateProcess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5550"/>
              </a:lnSpc>
            </a:pPr>
            <a:r>
              <a:rPr lang="en-US" sz="28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      Issue Category Distribution</a:t>
            </a:r>
            <a:endParaRPr lang="en-US" sz="28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99FD9-11AC-69E3-B41A-ECCBEAD0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0FB4951-CF66-734C-10F6-70521A079B24}"/>
              </a:ext>
            </a:extLst>
          </p:cNvPr>
          <p:cNvSpPr/>
          <p:nvPr/>
        </p:nvSpPr>
        <p:spPr>
          <a:xfrm>
            <a:off x="208560" y="964672"/>
            <a:ext cx="13167360" cy="7022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C46CF80-1A62-7F46-B838-00C691A8C3DF}"/>
              </a:ext>
            </a:extLst>
          </p:cNvPr>
          <p:cNvSpPr/>
          <p:nvPr/>
        </p:nvSpPr>
        <p:spPr>
          <a:xfrm>
            <a:off x="522957" y="2047641"/>
            <a:ext cx="6144768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B0354FB-9B5D-216E-6621-364D3CC26EC5}"/>
              </a:ext>
            </a:extLst>
          </p:cNvPr>
          <p:cNvSpPr/>
          <p:nvPr/>
        </p:nvSpPr>
        <p:spPr>
          <a:xfrm>
            <a:off x="7618701" y="2047641"/>
            <a:ext cx="6144768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DD8B1D-03B1-9932-3935-A2D6FA25DE85}"/>
              </a:ext>
            </a:extLst>
          </p:cNvPr>
          <p:cNvSpPr/>
          <p:nvPr/>
        </p:nvSpPr>
        <p:spPr>
          <a:xfrm>
            <a:off x="522957" y="4810291"/>
            <a:ext cx="6144768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5071265-2269-B37B-AA0A-511C2EB63EE0}"/>
              </a:ext>
            </a:extLst>
          </p:cNvPr>
          <p:cNvSpPr/>
          <p:nvPr/>
        </p:nvSpPr>
        <p:spPr>
          <a:xfrm>
            <a:off x="7618701" y="5483290"/>
            <a:ext cx="6437376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25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A1CD20-191F-30C4-A2DB-1FA00CBFB876}"/>
              </a:ext>
            </a:extLst>
          </p:cNvPr>
          <p:cNvSpPr txBox="1"/>
          <p:nvPr/>
        </p:nvSpPr>
        <p:spPr>
          <a:xfrm>
            <a:off x="208560" y="3218198"/>
            <a:ext cx="47530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Strongest Recommendation: Data Structures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Mixed Satisfaction: Other courses need improvement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3172FF-76A7-2906-1A70-C1DF2797A7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4173" y="1848970"/>
            <a:ext cx="9476227" cy="5922642"/>
          </a:xfrm>
          <a:prstGeom prst="rect">
            <a:avLst/>
          </a:prstGeom>
        </p:spPr>
      </p:pic>
      <p:sp>
        <p:nvSpPr>
          <p:cNvPr id="3" name="Flowchart: Punched Tape 2">
            <a:extLst>
              <a:ext uri="{FF2B5EF4-FFF2-40B4-BE49-F238E27FC236}">
                <a16:creationId xmlns:a16="http://schemas.microsoft.com/office/drawing/2014/main" id="{544B88F4-719F-A467-A06F-287BC4EB5734}"/>
              </a:ext>
            </a:extLst>
          </p:cNvPr>
          <p:cNvSpPr/>
          <p:nvPr/>
        </p:nvSpPr>
        <p:spPr>
          <a:xfrm>
            <a:off x="448192" y="181920"/>
            <a:ext cx="4753059" cy="2139351"/>
          </a:xfrm>
          <a:prstGeom prst="flowChartPunched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5550"/>
              </a:lnSpc>
            </a:pPr>
            <a:r>
              <a:rPr lang="en-US" sz="3200" b="1" i="1" dirty="0">
                <a:solidFill>
                  <a:schemeClr val="accent2">
                    <a:lumMod val="20000"/>
                    <a:lumOff val="80000"/>
                  </a:schemeClr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Course Recommendation Analysis</a:t>
            </a:r>
            <a:endParaRPr lang="en-US" sz="3200" i="1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22670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160852"/>
            <a:ext cx="6876288" cy="672509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44966" y="162"/>
            <a:ext cx="13167360" cy="7022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3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54112" y="2048256"/>
            <a:ext cx="629107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2800" dirty="0"/>
          </a:p>
        </p:txBody>
      </p:sp>
      <p:sp>
        <p:nvSpPr>
          <p:cNvPr id="5" name="Text 12"/>
          <p:cNvSpPr/>
          <p:nvPr/>
        </p:nvSpPr>
        <p:spPr>
          <a:xfrm>
            <a:off x="200778" y="1673621"/>
            <a:ext cx="7065846" cy="5559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288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D640E8-E014-A1B5-C881-BF89764F5F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739" y="1808441"/>
            <a:ext cx="8337170" cy="63317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124D2D-F386-A24E-F69E-DF23DAC89B95}"/>
              </a:ext>
            </a:extLst>
          </p:cNvPr>
          <p:cNvSpPr txBox="1"/>
          <p:nvPr/>
        </p:nvSpPr>
        <p:spPr>
          <a:xfrm>
            <a:off x="200778" y="996427"/>
            <a:ext cx="33878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Conclusion: Key Benefits</a:t>
            </a:r>
            <a:endParaRPr lang="en-US" sz="2000" b="1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5115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81227" y="289245"/>
            <a:ext cx="13167360" cy="7022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Conclusion: Key Insights &amp; Findings </a:t>
            </a:r>
          </a:p>
        </p:txBody>
      </p:sp>
      <p:sp>
        <p:nvSpPr>
          <p:cNvPr id="19" name="Text 17"/>
          <p:cNvSpPr/>
          <p:nvPr/>
        </p:nvSpPr>
        <p:spPr>
          <a:xfrm>
            <a:off x="8485632" y="5559552"/>
            <a:ext cx="48280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560" b="1" kern="0" spc="32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560" dirty="0">
              <a:latin typeface="Lato" panose="020F0502020204030203" pitchFamily="34" charset="0"/>
            </a:endParaRPr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9A787EFD-543F-42BA-AE56-756A6259F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956" y="1957864"/>
            <a:ext cx="6527244" cy="900589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1847C44A-30AA-BC9F-C0B4-94C66D29CB03}"/>
              </a:ext>
            </a:extLst>
          </p:cNvPr>
          <p:cNvSpPr/>
          <p:nvPr/>
        </p:nvSpPr>
        <p:spPr>
          <a:xfrm>
            <a:off x="1013103" y="3081933"/>
            <a:ext cx="3314224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Excellence Recognition</a:t>
            </a:r>
            <a:endParaRPr lang="en-US" sz="22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B9812F2-6AF4-088C-4B6F-58AC20E62C03}"/>
              </a:ext>
            </a:extLst>
          </p:cNvPr>
          <p:cNvSpPr/>
          <p:nvPr/>
        </p:nvSpPr>
        <p:spPr>
          <a:xfrm>
            <a:off x="1013103" y="3567827"/>
            <a:ext cx="6076950" cy="107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Prof. Sharma demonstrates outstanding teaching performance, setting benchmark for faculty development programs.</a:t>
            </a:r>
            <a:endParaRPr lang="en-US" sz="1750" dirty="0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EC9E801B-0C58-876D-39C8-F8A98C4064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957864"/>
            <a:ext cx="6527244" cy="900589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50CF752D-A944-C6E2-F763-9EA74B80325A}"/>
              </a:ext>
            </a:extLst>
          </p:cNvPr>
          <p:cNvSpPr/>
          <p:nvPr/>
        </p:nvSpPr>
        <p:spPr>
          <a:xfrm>
            <a:off x="7540347" y="3081933"/>
            <a:ext cx="3516987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Communication Priority</a:t>
            </a:r>
            <a:endParaRPr lang="en-US" sz="22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1B148646-55D4-46DD-7EA7-53EB29388CF6}"/>
              </a:ext>
            </a:extLst>
          </p:cNvPr>
          <p:cNvSpPr/>
          <p:nvPr/>
        </p:nvSpPr>
        <p:spPr>
          <a:xfrm>
            <a:off x="7540347" y="3567827"/>
            <a:ext cx="6076950" cy="107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Clarity issues dominate feedback, requiring focused faculty training on explanation techniques and accessibility.</a:t>
            </a:r>
            <a:endParaRPr lang="en-US" sz="1750" dirty="0"/>
          </a:p>
        </p:txBody>
      </p:sp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A0063FB7-9E16-7D0E-0A04-0A735A412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956" y="4869537"/>
            <a:ext cx="6527244" cy="900589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19F8AAC5-2DE7-ED4B-4B5C-D33674ABB4E2}"/>
              </a:ext>
            </a:extLst>
          </p:cNvPr>
          <p:cNvSpPr/>
          <p:nvPr/>
        </p:nvSpPr>
        <p:spPr>
          <a:xfrm>
            <a:off x="1013103" y="5993606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Course Model</a:t>
            </a:r>
            <a:endParaRPr lang="en-US" sz="22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B13FFB7F-E509-8F1E-FC01-8B3F9E71F0E2}"/>
              </a:ext>
            </a:extLst>
          </p:cNvPr>
          <p:cNvSpPr/>
          <p:nvPr/>
        </p:nvSpPr>
        <p:spPr>
          <a:xfrm>
            <a:off x="1013103" y="6479500"/>
            <a:ext cx="6076950" cy="717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Data Structures course represents best practice example for curriculum design and instructional delivery.</a:t>
            </a:r>
            <a:endParaRPr lang="en-US" sz="1750" dirty="0"/>
          </a:p>
        </p:txBody>
      </p:sp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4634142F-9E15-7012-4928-0CB7223E8D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4869537"/>
            <a:ext cx="6527244" cy="900589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C2BF2BD-2253-9ED7-7CCC-E92B19C8870C}"/>
              </a:ext>
            </a:extLst>
          </p:cNvPr>
          <p:cNvSpPr/>
          <p:nvPr/>
        </p:nvSpPr>
        <p:spPr>
          <a:xfrm>
            <a:off x="7540347" y="5993606"/>
            <a:ext cx="3816906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Improvement Opportunity</a:t>
            </a:r>
            <a:endParaRPr lang="en-US" sz="22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B842845F-4995-5EBD-2E8D-763A362C9AE0}"/>
              </a:ext>
            </a:extLst>
          </p:cNvPr>
          <p:cNvSpPr/>
          <p:nvPr/>
        </p:nvSpPr>
        <p:spPr>
          <a:xfrm>
            <a:off x="7540347" y="6479500"/>
            <a:ext cx="6076950" cy="717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Mixed course recommendations signal need for systematic quality enhancement initiatives.</a:t>
            </a:r>
            <a:endParaRPr lang="en-US" sz="1750" dirty="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97195" y="981698"/>
            <a:ext cx="13167360" cy="7022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3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617" y="1407381"/>
            <a:ext cx="7219784" cy="541483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F47165EA-03F5-55E7-02BC-F6ECB1BBF34F}"/>
              </a:ext>
            </a:extLst>
          </p:cNvPr>
          <p:cNvSpPr/>
          <p:nvPr/>
        </p:nvSpPr>
        <p:spPr>
          <a:xfrm>
            <a:off x="462499" y="2263974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25BB0C-0BC1-BBE9-08DC-9B7EC9058EF3}"/>
              </a:ext>
            </a:extLst>
          </p:cNvPr>
          <p:cNvSpPr/>
          <p:nvPr/>
        </p:nvSpPr>
        <p:spPr>
          <a:xfrm>
            <a:off x="1322873" y="2175748"/>
            <a:ext cx="3801547" cy="98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Expand feedback analysis to regional languages, ensuring inclusive access for diverse student populations.</a:t>
            </a:r>
            <a:endParaRPr lang="en-US" sz="16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D2A0A9B-0F8B-C432-F1F6-E4A30808A5E6}"/>
              </a:ext>
            </a:extLst>
          </p:cNvPr>
          <p:cNvSpPr/>
          <p:nvPr/>
        </p:nvSpPr>
        <p:spPr>
          <a:xfrm>
            <a:off x="5414367" y="2066330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3A71EE-D8A2-AA5F-5977-E88CA37E19A7}"/>
              </a:ext>
            </a:extLst>
          </p:cNvPr>
          <p:cNvSpPr/>
          <p:nvPr/>
        </p:nvSpPr>
        <p:spPr>
          <a:xfrm>
            <a:off x="6145041" y="2148896"/>
            <a:ext cx="3801547" cy="661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Longitudinal Performance Tracking</a:t>
            </a:r>
            <a:endParaRPr lang="en-US" sz="2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BAAB23-CDC1-5663-9586-CFC31369D9EC}"/>
              </a:ext>
            </a:extLst>
          </p:cNvPr>
          <p:cNvSpPr/>
          <p:nvPr/>
        </p:nvSpPr>
        <p:spPr>
          <a:xfrm>
            <a:off x="1097697" y="4026693"/>
            <a:ext cx="4595737" cy="1071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Monitor faculty development across semesters to measure improvement and identify persistent challenges.</a:t>
            </a:r>
            <a:endParaRPr lang="en-US" sz="16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EF9FB8-8303-77BA-E498-98EABC0D5C58}"/>
              </a:ext>
            </a:extLst>
          </p:cNvPr>
          <p:cNvSpPr/>
          <p:nvPr/>
        </p:nvSpPr>
        <p:spPr>
          <a:xfrm>
            <a:off x="268141" y="6247507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89318162-743D-B163-5890-8215AF2E824B}"/>
              </a:ext>
            </a:extLst>
          </p:cNvPr>
          <p:cNvSpPr/>
          <p:nvPr/>
        </p:nvSpPr>
        <p:spPr>
          <a:xfrm>
            <a:off x="991791" y="6115764"/>
            <a:ext cx="4463653" cy="330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Personalized Improvement Plans</a:t>
            </a:r>
            <a:endParaRPr lang="en-US" sz="2050" dirty="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BE5BD754-00B0-ED98-F151-C3AFAC719060}"/>
              </a:ext>
            </a:extLst>
          </p:cNvPr>
          <p:cNvSpPr/>
          <p:nvPr/>
        </p:nvSpPr>
        <p:spPr>
          <a:xfrm>
            <a:off x="991791" y="6565106"/>
            <a:ext cx="6012775" cy="655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Generate customized professional development recommendations based on individual performance data.</a:t>
            </a:r>
            <a:endParaRPr lang="en-US" sz="1650" dirty="0"/>
          </a:p>
        </p:txBody>
      </p:sp>
      <p:pic>
        <p:nvPicPr>
          <p:cNvPr id="17" name="Image 4" descr="preencoded.png">
            <a:extLst>
              <a:ext uri="{FF2B5EF4-FFF2-40B4-BE49-F238E27FC236}">
                <a16:creationId xmlns:a16="http://schemas.microsoft.com/office/drawing/2014/main" id="{7F16C7E6-6EF2-3820-B6DC-6488225EA3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00261" y="5457587"/>
            <a:ext cx="285869" cy="285869"/>
          </a:xfrm>
          <a:prstGeom prst="rect">
            <a:avLst/>
          </a:prstGeom>
        </p:spPr>
      </p:pic>
      <p:sp>
        <p:nvSpPr>
          <p:cNvPr id="18" name="Text 19">
            <a:extLst>
              <a:ext uri="{FF2B5EF4-FFF2-40B4-BE49-F238E27FC236}">
                <a16:creationId xmlns:a16="http://schemas.microsoft.com/office/drawing/2014/main" id="{90D1B3FA-5303-4FB2-40A8-E275D561F9EE}"/>
              </a:ext>
            </a:extLst>
          </p:cNvPr>
          <p:cNvSpPr/>
          <p:nvPr/>
        </p:nvSpPr>
        <p:spPr>
          <a:xfrm>
            <a:off x="7625596" y="6115764"/>
            <a:ext cx="3897868" cy="330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Real-Time Feedback Systems</a:t>
            </a:r>
            <a:endParaRPr lang="en-US" sz="2050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8BD1D5F7-E430-9C8C-ADF9-A6141A96D3A1}"/>
              </a:ext>
            </a:extLst>
          </p:cNvPr>
          <p:cNvSpPr/>
          <p:nvPr/>
        </p:nvSpPr>
        <p:spPr>
          <a:xfrm>
            <a:off x="7625596" y="6565106"/>
            <a:ext cx="6012894" cy="655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Enable mid-semester interventions through continuous feedback collection and immediate alerts.</a:t>
            </a:r>
            <a:endParaRPr lang="en-US" sz="165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795E483F-39AB-1122-0243-1664225CB873}"/>
              </a:ext>
            </a:extLst>
          </p:cNvPr>
          <p:cNvSpPr/>
          <p:nvPr/>
        </p:nvSpPr>
        <p:spPr>
          <a:xfrm>
            <a:off x="356593" y="4026694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463040" y="4828032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40" kern="0" spc="32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224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63040" y="5705856"/>
            <a:ext cx="11704320" cy="512064"/>
          </a:xfrm>
          <a:prstGeom prst="rect">
            <a:avLst/>
          </a:prstGeom>
          <a:noFill/>
          <a:ln/>
        </p:spPr>
        <p:txBody>
          <a:bodyPr wrap="square" lIns="146304" tIns="73152" rIns="146304" bIns="73152" rtlCol="0" anchor="ctr"/>
          <a:lstStyle/>
          <a:p>
            <a:pPr algn="ctr"/>
            <a:r>
              <a:rPr lang="en-US" sz="176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76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76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76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4212771" y="2728472"/>
            <a:ext cx="6204858" cy="18632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7098"/>
              </a:lnSpc>
            </a:pPr>
            <a:r>
              <a:rPr lang="en-US" sz="8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532</Words>
  <Application>Microsoft Office PowerPoint</Application>
  <PresentationFormat>Custom</PresentationFormat>
  <Paragraphs>88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Calibri</vt:lpstr>
      <vt:lpstr>Imprint MT Shadow</vt:lpstr>
      <vt:lpstr>Arial</vt:lpstr>
      <vt:lpstr>Nobile</vt:lpstr>
      <vt:lpstr>Lato</vt:lpstr>
      <vt:lpstr>Aharoni</vt:lpstr>
      <vt:lpstr>Fraunces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triveni Masti</cp:lastModifiedBy>
  <cp:revision>34</cp:revision>
  <dcterms:created xsi:type="dcterms:W3CDTF">2026-04-04T08:34:19Z</dcterms:created>
  <dcterms:modified xsi:type="dcterms:W3CDTF">2026-04-16T14:00:23Z</dcterms:modified>
</cp:coreProperties>
</file>