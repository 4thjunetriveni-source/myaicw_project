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</p:sldIdLst>
  <p:sldSz cx="14630400" cy="8229600"/>
  <p:notesSz cx="8229600" cy="14630400"/>
  <p:embeddedFontLst>
    <p:embeddedFont>
      <p:font typeface="Engravers MT" panose="02090707080505020304" pitchFamily="18" charset="0"/>
      <p:regular r:id="rId14"/>
    </p:embeddedFont>
    <p:embeddedFont>
      <p:font typeface="Fraunces Extra Bold" panose="020B0604020202020204" charset="0"/>
      <p:regular r:id="rId15"/>
    </p:embeddedFont>
    <p:embeddedFont>
      <p:font typeface="Nobile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Sharma</c:v>
                </c:pt>
                <c:pt idx="1">
                  <c:v>Kulkarni</c:v>
                </c:pt>
                <c:pt idx="2">
                  <c:v>Patil</c:v>
                </c:pt>
                <c:pt idx="3">
                  <c:v>Mehta</c:v>
                </c:pt>
                <c:pt idx="4">
                  <c:v>Joshi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3.44</c:v>
                </c:pt>
                <c:pt idx="1">
                  <c:v>3.3</c:v>
                </c:pt>
                <c:pt idx="2">
                  <c:v>3.29</c:v>
                </c:pt>
                <c:pt idx="3">
                  <c:v>3.15</c:v>
                </c:pt>
                <c:pt idx="4">
                  <c:v>3.09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15-4064-9D55-17694A9209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248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Student Feedback &amp; Teaching Improvement Analyzer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2801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AI-Driven Teaching Excellence Analyzer: Transforming student feedback into actionable insights for continuous educational improvement.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7827"/>
            <a:ext cx="10466427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Challenges in Current Feedback Systems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93790" y="1713190"/>
            <a:ext cx="6429494" cy="1813679"/>
          </a:xfrm>
          <a:prstGeom prst="roundRect">
            <a:avLst>
              <a:gd name="adj" fmla="val 605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1713190"/>
            <a:ext cx="91440" cy="1813679"/>
          </a:xfrm>
          <a:prstGeom prst="roundRect">
            <a:avLst>
              <a:gd name="adj" fmla="val 200930"/>
            </a:avLst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1073587" y="1780698"/>
            <a:ext cx="416766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2000" b="1" i="1" dirty="0"/>
              <a:t>Lack of Multilingual Feedback Processing</a:t>
            </a:r>
            <a:endParaRPr lang="en-IN" sz="2000" i="1" dirty="0"/>
          </a:p>
        </p:txBody>
      </p:sp>
      <p:sp>
        <p:nvSpPr>
          <p:cNvPr id="6" name="Text 4"/>
          <p:cNvSpPr/>
          <p:nvPr/>
        </p:nvSpPr>
        <p:spPr>
          <a:xfrm>
            <a:off x="1089303" y="2099548"/>
            <a:ext cx="5907048" cy="153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IN" dirty="0"/>
              <a:t>The existing system does not support feedback submitted in </a:t>
            </a:r>
            <a:r>
              <a:rPr lang="en-IN" b="1" dirty="0"/>
              <a:t>regional or native languages</a:t>
            </a:r>
            <a:r>
              <a:rPr lang="en-IN" dirty="0"/>
              <a:t>, leading to the exclusion of a significant portion of student responses. This results in a </a:t>
            </a:r>
            <a:r>
              <a:rPr lang="en-IN" b="1" dirty="0"/>
              <a:t>representation bias</a:t>
            </a:r>
            <a:r>
              <a:rPr lang="en-IN" dirty="0"/>
              <a:t> and limits the inclusivity and comprehensiveness of the analysis. 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06997" y="1713190"/>
            <a:ext cx="6429613" cy="1813679"/>
          </a:xfrm>
          <a:prstGeom prst="roundRect">
            <a:avLst>
              <a:gd name="adj" fmla="val 605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84137" y="1713190"/>
            <a:ext cx="91440" cy="1813679"/>
          </a:xfrm>
          <a:prstGeom prst="roundRect">
            <a:avLst>
              <a:gd name="adj" fmla="val 200930"/>
            </a:avLst>
          </a:prstGeom>
          <a:solidFill>
            <a:srgbClr val="438951"/>
          </a:solidFill>
          <a:ln/>
        </p:spPr>
      </p:sp>
      <p:sp>
        <p:nvSpPr>
          <p:cNvPr id="9" name="Text 7"/>
          <p:cNvSpPr/>
          <p:nvPr/>
        </p:nvSpPr>
        <p:spPr>
          <a:xfrm>
            <a:off x="7702510" y="1940123"/>
            <a:ext cx="377047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Lack of Standardized Metrics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02510" y="2369106"/>
            <a:ext cx="5907167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uniform framework for faculty evaluation makes comparative analysis difficult and subjective judgments more likely.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3790" y="3710583"/>
            <a:ext cx="6429494" cy="1813679"/>
          </a:xfrm>
          <a:prstGeom prst="roundRect">
            <a:avLst>
              <a:gd name="adj" fmla="val 605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930" y="3710583"/>
            <a:ext cx="91440" cy="1813679"/>
          </a:xfrm>
          <a:prstGeom prst="roundRect">
            <a:avLst>
              <a:gd name="adj" fmla="val 200930"/>
            </a:avLst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1089303" y="3937516"/>
            <a:ext cx="427291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IN" sz="2000" b="1" i="1" dirty="0"/>
              <a:t>Lack of Personalized Faculty Improvement Roadmaps</a:t>
            </a:r>
            <a:endParaRPr lang="en-US" sz="2400" i="1" dirty="0"/>
          </a:p>
        </p:txBody>
      </p:sp>
      <p:sp>
        <p:nvSpPr>
          <p:cNvPr id="14" name="Text 12"/>
          <p:cNvSpPr/>
          <p:nvPr/>
        </p:nvSpPr>
        <p:spPr>
          <a:xfrm>
            <a:off x="1089303" y="4366497"/>
            <a:ext cx="5907048" cy="1114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dirty="0"/>
              <a:t>The system identifies strengths and weaknesses but lacks personalized recommendations and development plans, limiting its effectiveness in improving teaching quality.</a:t>
            </a: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406997" y="3710583"/>
            <a:ext cx="6429613" cy="1813679"/>
          </a:xfrm>
          <a:prstGeom prst="roundRect">
            <a:avLst>
              <a:gd name="adj" fmla="val 605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84137" y="3710583"/>
            <a:ext cx="91440" cy="1813679"/>
          </a:xfrm>
          <a:prstGeom prst="roundRect">
            <a:avLst>
              <a:gd name="adj" fmla="val 200930"/>
            </a:avLst>
          </a:prstGeom>
          <a:solidFill>
            <a:srgbClr val="438951"/>
          </a:solidFill>
          <a:ln/>
        </p:spPr>
      </p:sp>
      <p:sp>
        <p:nvSpPr>
          <p:cNvPr id="17" name="Text 15"/>
          <p:cNvSpPr/>
          <p:nvPr/>
        </p:nvSpPr>
        <p:spPr>
          <a:xfrm>
            <a:off x="7702510" y="3937516"/>
            <a:ext cx="328195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b="1" i="1" dirty="0">
                <a:latin typeface="Fraunces Extra Bold" panose="020B0604020202020204" charset="0"/>
              </a:rPr>
              <a:t>Absence of Longitudinal Performance Tracking</a:t>
            </a:r>
            <a:endParaRPr lang="en-IN" i="1" dirty="0">
              <a:latin typeface="Fraunces Extra Bold" panose="020B06040202020202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02510" y="4366498"/>
            <a:ext cx="5907167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/>
              <a:t>The current design lacks long-term tracking of faculty performance across semesters, making it difficult to identify trends, improvements, or declines and limiting effective academic planning.</a:t>
            </a:r>
          </a:p>
        </p:txBody>
      </p:sp>
      <p:sp>
        <p:nvSpPr>
          <p:cNvPr id="19" name="Shape 17"/>
          <p:cNvSpPr/>
          <p:nvPr/>
        </p:nvSpPr>
        <p:spPr>
          <a:xfrm>
            <a:off x="793790" y="5707975"/>
            <a:ext cx="6429494" cy="1813679"/>
          </a:xfrm>
          <a:prstGeom prst="roundRect">
            <a:avLst>
              <a:gd name="adj" fmla="val 605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0930" y="5707975"/>
            <a:ext cx="91440" cy="1813679"/>
          </a:xfrm>
          <a:prstGeom prst="roundRect">
            <a:avLst>
              <a:gd name="adj" fmla="val 200930"/>
            </a:avLst>
          </a:prstGeom>
          <a:solidFill>
            <a:srgbClr val="438951"/>
          </a:solidFill>
          <a:ln/>
        </p:spPr>
      </p:sp>
      <p:sp>
        <p:nvSpPr>
          <p:cNvPr id="21" name="Text 19"/>
          <p:cNvSpPr/>
          <p:nvPr/>
        </p:nvSpPr>
        <p:spPr>
          <a:xfrm>
            <a:off x="1089303" y="5934908"/>
            <a:ext cx="314479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No Continuous Tracking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89303" y="6363891"/>
            <a:ext cx="5907048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Faculty performance isn't monitored over time, preventing longitudinal improvement measurement and personalized development plans.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06997" y="5707975"/>
            <a:ext cx="6429613" cy="1813679"/>
          </a:xfrm>
          <a:prstGeom prst="roundRect">
            <a:avLst>
              <a:gd name="adj" fmla="val 605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84137" y="5707975"/>
            <a:ext cx="91440" cy="1813679"/>
          </a:xfrm>
          <a:prstGeom prst="roundRect">
            <a:avLst>
              <a:gd name="adj" fmla="val 200930"/>
            </a:avLst>
          </a:prstGeom>
          <a:solidFill>
            <a:srgbClr val="438951"/>
          </a:solidFill>
          <a:ln/>
        </p:spPr>
      </p:sp>
      <p:sp>
        <p:nvSpPr>
          <p:cNvPr id="25" name="Text 23"/>
          <p:cNvSpPr/>
          <p:nvPr/>
        </p:nvSpPr>
        <p:spPr>
          <a:xfrm>
            <a:off x="7702510" y="5934908"/>
            <a:ext cx="411527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Missing Real-Time Intervention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702510" y="6363891"/>
            <a:ext cx="5907167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Without immediate feedback loops, opportunities for timely course correction and student support are lost during the semester.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2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2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14DEC0-C7FA-FF59-2536-3E4A24133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216" y="1846053"/>
            <a:ext cx="11904452" cy="57279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515454-0A0C-D5E0-C5AC-82D4AB1D2EE8}"/>
              </a:ext>
            </a:extLst>
          </p:cNvPr>
          <p:cNvSpPr txBox="1"/>
          <p:nvPr/>
        </p:nvSpPr>
        <p:spPr>
          <a:xfrm>
            <a:off x="5641675" y="807372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Engravers MT" panose="02090707080505020304" pitchFamily="18" charset="0"/>
                <a:ea typeface="Fraunces Extra Bold" pitchFamily="34" charset="-122"/>
                <a:cs typeface="Fraunces Extra Bold" pitchFamily="34" charset="-120"/>
              </a:rPr>
              <a:t>Dashboard </a:t>
            </a:r>
            <a:endParaRPr lang="en-IN" sz="3600" dirty="0">
              <a:solidFill>
                <a:srgbClr val="FF0000"/>
              </a:solidFill>
              <a:latin typeface="Engravers MT" panose="0209070708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6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429941"/>
            <a:ext cx="3898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Centralized Dashboard Interface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96439"/>
            <a:ext cx="3898821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integrated analytics platform provides administrators and faculty with real-time visibility into teaching performance, student sentiment, and course effectiveness through intuitive visualizations and actionable metrics.</a:t>
            </a:r>
            <a:endParaRPr lang="en-US" sz="17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6EA423-E429-FA64-A7CF-418FBE2C6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815" y="517257"/>
            <a:ext cx="9661585" cy="66944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4851"/>
            <a:ext cx="60142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Dashboard Snapshot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90606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3.26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0224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Overall Rating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512820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Mean score across all courses and faculty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1990606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1000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172575" y="3022402"/>
            <a:ext cx="29483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Feedback Responses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3512820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Total student responses analyzed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244221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38.4%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2565916" y="52760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Clarity Issues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5766435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Most frequently reported problem area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56884" y="4244221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9229130" y="52760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Top Faculty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56884" y="5766435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Prof. Sharma leads performance rankings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6497869"/>
            <a:ext cx="13042821" cy="35957"/>
          </a:xfrm>
          <a:prstGeom prst="rect">
            <a:avLst/>
          </a:prstGeom>
          <a:solidFill>
            <a:srgbClr val="405449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93790" y="678894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Course Excellence Index: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Data Structures course achieves highest ratings, demonstrating effective pedagogy and clear communication.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21593" y="202354"/>
            <a:ext cx="10955387" cy="1132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396975" y="1213328"/>
            <a:ext cx="6918225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Comparative analysis reveals performance variations across teaching staff, enabling targeted professional development and recognition of excellence. The visualization identifies top performers while highlighting faculty requiring additional support or training resources.</a:t>
            </a:r>
            <a:endParaRPr lang="en-US" sz="20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8071FDA-2C8D-249D-818F-FA7DEE503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022427"/>
              </p:ext>
            </p:extLst>
          </p:nvPr>
        </p:nvGraphicFramePr>
        <p:xfrm>
          <a:off x="4930588" y="2886634"/>
          <a:ext cx="8677836" cy="4840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D5404A3D-57D2-ABAB-B04F-EBDF6699D6CA}"/>
              </a:ext>
            </a:extLst>
          </p:cNvPr>
          <p:cNvSpPr/>
          <p:nvPr/>
        </p:nvSpPr>
        <p:spPr>
          <a:xfrm>
            <a:off x="1673523" y="0"/>
            <a:ext cx="10403457" cy="1010974"/>
          </a:xfrm>
          <a:prstGeom prst="ellipse">
            <a:avLst/>
          </a:prstGeom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5550"/>
              </a:lnSpc>
            </a:pPr>
            <a:r>
              <a:rPr lang="en-US" sz="3600" b="1" i="1" dirty="0">
                <a:solidFill>
                  <a:schemeClr val="accent2">
                    <a:lumMod val="20000"/>
                    <a:lumOff val="8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Faculty Performance Analysis</a:t>
            </a:r>
            <a:endParaRPr lang="en-US" sz="3600" i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185" y="0"/>
            <a:ext cx="5883215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2689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11429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Primary Issue: Clarity (38.4%)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746903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Students most frequently report difficulty understanding course material and explanations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811429"/>
            <a:ext cx="29453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Secondary Concerns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856321" y="4392573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Engagement, pacing, and assessment methods represent additional improvement opportunities.</a:t>
            </a:r>
            <a:endParaRPr lang="en-US" sz="1750" dirty="0"/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18854590-41D5-8114-7165-C8F1CC0F4FDA}"/>
              </a:ext>
            </a:extLst>
          </p:cNvPr>
          <p:cNvSpPr/>
          <p:nvPr/>
        </p:nvSpPr>
        <p:spPr>
          <a:xfrm>
            <a:off x="638355" y="891479"/>
            <a:ext cx="6676845" cy="1139608"/>
          </a:xfrm>
          <a:prstGeom prst="flowChartAlternateProcess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5550"/>
              </a:lnSpc>
            </a:pPr>
            <a:r>
              <a:rPr lang="en-US" sz="28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           Issue Category Distribution</a:t>
            </a: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075492"/>
            <a:ext cx="38988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61562" y="3352800"/>
            <a:ext cx="4231049" cy="4052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 willingness to recommend courses varies significantly, indicating mixed satisfaction levels. Data Structures shows strongest endorsement, while other courses reveal improvement areas requiring faculty attention and curriculum refinement.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3172FF-76A7-2906-1A70-C1DF2797A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839" y="1153479"/>
            <a:ext cx="9476227" cy="5922642"/>
          </a:xfrm>
          <a:prstGeom prst="rect">
            <a:avLst/>
          </a:prstGeom>
        </p:spPr>
      </p:pic>
      <p:sp>
        <p:nvSpPr>
          <p:cNvPr id="5" name="Flowchart: Punched Tape 4">
            <a:extLst>
              <a:ext uri="{FF2B5EF4-FFF2-40B4-BE49-F238E27FC236}">
                <a16:creationId xmlns:a16="http://schemas.microsoft.com/office/drawing/2014/main" id="{B8622CB9-50F3-1C4C-D8FE-230943FD98F3}"/>
              </a:ext>
            </a:extLst>
          </p:cNvPr>
          <p:cNvSpPr/>
          <p:nvPr/>
        </p:nvSpPr>
        <p:spPr>
          <a:xfrm>
            <a:off x="271780" y="353699"/>
            <a:ext cx="4753059" cy="2139351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5550"/>
              </a:lnSpc>
            </a:pPr>
            <a:r>
              <a:rPr lang="en-US" sz="3200" b="1" i="1" dirty="0">
                <a:solidFill>
                  <a:schemeClr val="accent2">
                    <a:lumMod val="20000"/>
                    <a:lumOff val="80000"/>
                  </a:schemeClr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Course Recommendation Analysis</a:t>
            </a:r>
            <a:endParaRPr lang="en-US" sz="3200" i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797719"/>
            <a:ext cx="10625018" cy="66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Additional Enhancement Requirements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80098" y="1854637"/>
            <a:ext cx="4224933" cy="3018949"/>
          </a:xfrm>
          <a:prstGeom prst="roundRect">
            <a:avLst>
              <a:gd name="adj" fmla="val 6313"/>
            </a:avLst>
          </a:prstGeom>
          <a:ln/>
          <a:effectLst>
            <a:reflection blurRad="6350" stA="50000" endA="300" endPos="55000" dir="5400000" sy="-100000" algn="bl" rotWithShape="0"/>
          </a:effectLst>
          <a:scene3d>
            <a:camera prst="perspectiveBelow"/>
            <a:lightRig rig="threePt" dir="t"/>
          </a:scene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sp>
      <p:sp>
        <p:nvSpPr>
          <p:cNvPr id="4" name="Shape 2"/>
          <p:cNvSpPr/>
          <p:nvPr/>
        </p:nvSpPr>
        <p:spPr>
          <a:xfrm>
            <a:off x="991791" y="2066330"/>
            <a:ext cx="635198" cy="635198"/>
          </a:xfrm>
          <a:prstGeom prst="roundRect">
            <a:avLst>
              <a:gd name="adj" fmla="val 14394072"/>
            </a:avLst>
          </a:prstGeom>
          <a:solidFill>
            <a:srgbClr val="43895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6455" y="2240994"/>
            <a:ext cx="285869" cy="2858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1791" y="2899172"/>
            <a:ext cx="3801547" cy="661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Multilingual NLP Processing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91791" y="3679269"/>
            <a:ext cx="3801547" cy="982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Expand feedback analysis to regional languages, ensuring inclusive access for diverse student populations.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349597" y="1854637"/>
            <a:ext cx="4224933" cy="3018949"/>
          </a:xfrm>
          <a:prstGeom prst="roundRect">
            <a:avLst>
              <a:gd name="adj" fmla="val 6313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perspectiveBelow"/>
            <a:lightRig rig="threePt" dir="t"/>
          </a:scene3d>
        </p:spPr>
      </p:sp>
      <p:sp>
        <p:nvSpPr>
          <p:cNvPr id="9" name="Shape 6"/>
          <p:cNvSpPr/>
          <p:nvPr/>
        </p:nvSpPr>
        <p:spPr>
          <a:xfrm>
            <a:off x="5414367" y="2066330"/>
            <a:ext cx="635198" cy="635198"/>
          </a:xfrm>
          <a:prstGeom prst="roundRect">
            <a:avLst>
              <a:gd name="adj" fmla="val 14394072"/>
            </a:avLst>
          </a:prstGeom>
          <a:solidFill>
            <a:srgbClr val="43895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9032" y="2240994"/>
            <a:ext cx="285869" cy="2858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14367" y="2899172"/>
            <a:ext cx="3801547" cy="661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Longitudinal Performance Tracking</a:t>
            </a:r>
            <a:endParaRPr lang="en-US" sz="2050" dirty="0"/>
          </a:p>
        </p:txBody>
      </p:sp>
      <p:sp>
        <p:nvSpPr>
          <p:cNvPr id="12" name="Text 8"/>
          <p:cNvSpPr/>
          <p:nvPr/>
        </p:nvSpPr>
        <p:spPr>
          <a:xfrm>
            <a:off x="5414367" y="3679269"/>
            <a:ext cx="3801547" cy="982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Monitor faculty development across semesters to measure improvement and identify persistent challenges.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9836944" y="1854637"/>
            <a:ext cx="4224933" cy="3018949"/>
          </a:xfrm>
          <a:prstGeom prst="roundRect">
            <a:avLst>
              <a:gd name="adj" fmla="val 6313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perspectiveBelow"/>
            <a:lightRig rig="threePt" dir="t"/>
          </a:scene3d>
        </p:spPr>
      </p:sp>
      <p:sp>
        <p:nvSpPr>
          <p:cNvPr id="14" name="Shape 10"/>
          <p:cNvSpPr/>
          <p:nvPr/>
        </p:nvSpPr>
        <p:spPr>
          <a:xfrm>
            <a:off x="9836944" y="2066330"/>
            <a:ext cx="635198" cy="635198"/>
          </a:xfrm>
          <a:prstGeom prst="roundRect">
            <a:avLst>
              <a:gd name="adj" fmla="val 14394072"/>
            </a:avLst>
          </a:prstGeom>
          <a:solidFill>
            <a:srgbClr val="438951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1608" y="2240994"/>
            <a:ext cx="285869" cy="2858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36944" y="2899172"/>
            <a:ext cx="3542109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Bias Detection Algorithms</a:t>
            </a:r>
            <a:endParaRPr lang="en-US" sz="2050" dirty="0"/>
          </a:p>
        </p:txBody>
      </p:sp>
      <p:sp>
        <p:nvSpPr>
          <p:cNvPr id="17" name="Text 12"/>
          <p:cNvSpPr/>
          <p:nvPr/>
        </p:nvSpPr>
        <p:spPr>
          <a:xfrm>
            <a:off x="9836944" y="3348514"/>
            <a:ext cx="3801547" cy="982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 and correct bias patterns in anonymous feedback to ensure fair and accurate evaluations.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80098" y="5071229"/>
            <a:ext cx="6436162" cy="2360652"/>
          </a:xfrm>
          <a:prstGeom prst="roundRect">
            <a:avLst>
              <a:gd name="adj" fmla="val 8073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perspectiveBelow"/>
            <a:lightRig rig="threePt" dir="t"/>
          </a:scene3d>
        </p:spPr>
      </p:sp>
      <p:sp>
        <p:nvSpPr>
          <p:cNvPr id="19" name="Shape 14"/>
          <p:cNvSpPr/>
          <p:nvPr/>
        </p:nvSpPr>
        <p:spPr>
          <a:xfrm>
            <a:off x="991791" y="5282922"/>
            <a:ext cx="635198" cy="635198"/>
          </a:xfrm>
          <a:prstGeom prst="roundRect">
            <a:avLst>
              <a:gd name="adj" fmla="val 14394072"/>
            </a:avLst>
          </a:prstGeom>
          <a:solidFill>
            <a:srgbClr val="438951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6455" y="5457587"/>
            <a:ext cx="285869" cy="28586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91791" y="6115764"/>
            <a:ext cx="4463653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Personalized Improvement Plans</a:t>
            </a:r>
            <a:endParaRPr lang="en-US" sz="2050" dirty="0"/>
          </a:p>
        </p:txBody>
      </p:sp>
      <p:sp>
        <p:nvSpPr>
          <p:cNvPr id="22" name="Text 16"/>
          <p:cNvSpPr/>
          <p:nvPr/>
        </p:nvSpPr>
        <p:spPr>
          <a:xfrm>
            <a:off x="991791" y="6565106"/>
            <a:ext cx="6012775" cy="655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Generate customized professional development recommendations based on individual performance data.</a:t>
            </a:r>
            <a:endParaRPr lang="en-US" sz="1650" dirty="0"/>
          </a:p>
        </p:txBody>
      </p:sp>
      <p:sp>
        <p:nvSpPr>
          <p:cNvPr id="23" name="Shape 17"/>
          <p:cNvSpPr/>
          <p:nvPr/>
        </p:nvSpPr>
        <p:spPr>
          <a:xfrm>
            <a:off x="7413903" y="5071229"/>
            <a:ext cx="6436281" cy="2360652"/>
          </a:xfrm>
          <a:prstGeom prst="roundRect">
            <a:avLst>
              <a:gd name="adj" fmla="val 8073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perspectiveBelow"/>
            <a:lightRig rig="threePt" dir="t"/>
          </a:scene3d>
        </p:spPr>
      </p:sp>
      <p:sp>
        <p:nvSpPr>
          <p:cNvPr id="24" name="Shape 18"/>
          <p:cNvSpPr/>
          <p:nvPr/>
        </p:nvSpPr>
        <p:spPr>
          <a:xfrm>
            <a:off x="7625596" y="5282922"/>
            <a:ext cx="635198" cy="635198"/>
          </a:xfrm>
          <a:prstGeom prst="roundRect">
            <a:avLst>
              <a:gd name="adj" fmla="val 14394072"/>
            </a:avLst>
          </a:prstGeom>
          <a:solidFill>
            <a:srgbClr val="438951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00261" y="5457587"/>
            <a:ext cx="285869" cy="28586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25596" y="6115764"/>
            <a:ext cx="3897868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Real-Time Feedback Systems</a:t>
            </a:r>
            <a:endParaRPr lang="en-US" sz="2050" dirty="0"/>
          </a:p>
        </p:txBody>
      </p:sp>
      <p:sp>
        <p:nvSpPr>
          <p:cNvPr id="27" name="Text 20"/>
          <p:cNvSpPr/>
          <p:nvPr/>
        </p:nvSpPr>
        <p:spPr>
          <a:xfrm>
            <a:off x="7625596" y="6565106"/>
            <a:ext cx="6012894" cy="655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 mid-semester interventions through continuous feedback collection and immediate alerts.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956" y="807244"/>
            <a:ext cx="6782157" cy="703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Insights &amp; Findings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56" y="1957864"/>
            <a:ext cx="6527244" cy="9005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3103" y="3081933"/>
            <a:ext cx="3314224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Excellence Recognition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13103" y="3567827"/>
            <a:ext cx="6076950" cy="107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Prof. Sharma demonstrates outstanding teaching performance, setting benchmark for faculty development programs.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957864"/>
            <a:ext cx="6527244" cy="9005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0347" y="3081933"/>
            <a:ext cx="3516987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Communication Priority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0347" y="3567827"/>
            <a:ext cx="6076950" cy="107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Clarity issues dominate feedback, requiring focused faculty training on explanation techniques and accessibility.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956" y="4869537"/>
            <a:ext cx="6527244" cy="9005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3103" y="5993606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Course Model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13103" y="6479500"/>
            <a:ext cx="6076950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Structures course represents best practice example for curriculum design and instructional delivery.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869537"/>
            <a:ext cx="6527244" cy="90058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0347" y="5993606"/>
            <a:ext cx="3816906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Improvement Opportunity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0347" y="6479500"/>
            <a:ext cx="6076950" cy="71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Mixed course recommendations signal need for systematic quality enhancement initiatives.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owerPoint Templates – Free Closing Slides &amp; Images">
            <a:extLst>
              <a:ext uri="{FF2B5EF4-FFF2-40B4-BE49-F238E27FC236}">
                <a16:creationId xmlns:a16="http://schemas.microsoft.com/office/drawing/2014/main" id="{0659E9FA-91ED-D464-CEBE-69780E423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770"/>
            <a:ext cx="14630400" cy="8108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6771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551</Words>
  <Application>Microsoft Office PowerPoint</Application>
  <PresentationFormat>Custom</PresentationFormat>
  <Paragraphs>71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Engravers MT</vt:lpstr>
      <vt:lpstr>Arial</vt:lpstr>
      <vt:lpstr>Fraunces Extra Bold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triveni Masti</cp:lastModifiedBy>
  <cp:revision>15</cp:revision>
  <dcterms:created xsi:type="dcterms:W3CDTF">2026-04-04T08:34:19Z</dcterms:created>
  <dcterms:modified xsi:type="dcterms:W3CDTF">2026-04-04T12:55:12Z</dcterms:modified>
</cp:coreProperties>
</file>