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70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8" r:id="rId12"/>
    <p:sldId id="267" r:id="rId13"/>
  </p:sldIdLst>
  <p:sldSz cx="14630400" cy="8229600"/>
  <p:notesSz cx="8229600" cy="14630400"/>
  <p:embeddedFontLst>
    <p:embeddedFont>
      <p:font typeface="Aharoni" panose="02010803020104030203" pitchFamily="2" charset="-79"/>
      <p:bold r:id="rId15"/>
    </p:embeddedFont>
    <p:embeddedFont>
      <p:font typeface="Algerian" panose="04020705040A02060702" pitchFamily="82" charset="0"/>
      <p:regular r:id="rId16"/>
    </p:embeddedFont>
    <p:embeddedFont>
      <p:font typeface="Engravers MT" panose="02090707080505020304" pitchFamily="18" charset="0"/>
      <p:regular r:id="rId17"/>
    </p:embeddedFont>
    <p:embeddedFont>
      <p:font typeface="Fraunces Extra Bold" panose="020B0604020202020204" charset="0"/>
      <p:regular r:id="rId18"/>
    </p:embeddedFont>
    <p:embeddedFont>
      <p:font typeface="Nobile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6" d="100"/>
          <a:sy n="56" d="100"/>
        </p:scale>
        <p:origin x="63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n-IN" sz="2160" b="1" i="0" u="none" strike="noStrike" baseline="0" dirty="0"/>
              <a:t>Faculty Ratings (Mean Scores)</a:t>
            </a:r>
            <a:endParaRPr lang="en-IN" dirty="0"/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Ratings</c:v>
                </c:pt>
              </c:strCache>
            </c:strRef>
          </c:tx>
          <c:invertIfNegative val="1"/>
          <c:cat>
            <c:strRef>
              <c:f>Sheet1!$A$2:$A$6</c:f>
              <c:strCache>
                <c:ptCount val="5"/>
                <c:pt idx="0">
                  <c:v>Sharma</c:v>
                </c:pt>
                <c:pt idx="1">
                  <c:v>Kulkarni</c:v>
                </c:pt>
                <c:pt idx="2">
                  <c:v>Patil</c:v>
                </c:pt>
                <c:pt idx="3">
                  <c:v>Mehta</c:v>
                </c:pt>
                <c:pt idx="4">
                  <c:v>Joshi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3.44</c:v>
                </c:pt>
                <c:pt idx="1">
                  <c:v>3.3</c:v>
                </c:pt>
                <c:pt idx="2">
                  <c:v>3.29</c:v>
                </c:pt>
                <c:pt idx="3">
                  <c:v>3.15</c:v>
                </c:pt>
                <c:pt idx="4">
                  <c:v>3.09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D15-4064-9D55-17694A9209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248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EEEE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F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18" y="95909"/>
            <a:ext cx="3730752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0" y="0"/>
            <a:ext cx="804672" cy="82296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207724" y="84029"/>
            <a:ext cx="8046720" cy="23408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5550"/>
              </a:lnSpc>
            </a:pPr>
            <a:r>
              <a:rPr lang="en-US" sz="54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Student Feedback &amp; Teaching Improvement Analyzer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512064" y="4125773"/>
            <a:ext cx="6144768" cy="614477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4" name="Shape 12"/>
          <p:cNvSpPr/>
          <p:nvPr/>
        </p:nvSpPr>
        <p:spPr>
          <a:xfrm>
            <a:off x="6656832" y="4125773"/>
            <a:ext cx="438912" cy="614477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" y="4125773"/>
            <a:ext cx="6144768" cy="6144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80" b="1" kern="0" spc="32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R E S E N T A T I O N   2 0 2 6</a:t>
            </a:r>
            <a:endParaRPr lang="en-US" sz="2080"/>
          </a:p>
        </p:txBody>
      </p:sp>
      <p:sp>
        <p:nvSpPr>
          <p:cNvPr id="16" name="Shape 14"/>
          <p:cNvSpPr/>
          <p:nvPr/>
        </p:nvSpPr>
        <p:spPr>
          <a:xfrm>
            <a:off x="512064" y="5779008"/>
            <a:ext cx="658368" cy="658368"/>
          </a:xfrm>
          <a:prstGeom prst="ellipse">
            <a:avLst/>
          </a:prstGeom>
          <a:solidFill>
            <a:srgbClr val="ECEFF1"/>
          </a:solidFill>
          <a:ln w="19050">
            <a:solidFill>
              <a:srgbClr val="1B3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" y="5793639"/>
            <a:ext cx="658368" cy="6291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560">
                <a:solidFill>
                  <a:srgbClr val="000000"/>
                </a:solidFill>
              </a:rPr>
              <a:t>👤</a:t>
            </a:r>
            <a:endParaRPr lang="en-US" sz="2560"/>
          </a:p>
        </p:txBody>
      </p:sp>
      <p:sp>
        <p:nvSpPr>
          <p:cNvPr id="18" name="Text 16"/>
          <p:cNvSpPr/>
          <p:nvPr/>
        </p:nvSpPr>
        <p:spPr>
          <a:xfrm>
            <a:off x="1243584" y="5779008"/>
            <a:ext cx="2926080" cy="3218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4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</a:t>
            </a:r>
            <a:endParaRPr lang="en-US" sz="1440"/>
          </a:p>
        </p:txBody>
      </p:sp>
      <p:sp>
        <p:nvSpPr>
          <p:cNvPr id="19" name="Text 17"/>
          <p:cNvSpPr/>
          <p:nvPr/>
        </p:nvSpPr>
        <p:spPr>
          <a:xfrm>
            <a:off x="1243584" y="607161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[TRIVENI S. MASTI]</a:t>
            </a:r>
            <a:endParaRPr lang="en-US" sz="2000" b="1" dirty="0"/>
          </a:p>
        </p:txBody>
      </p:sp>
      <p:sp>
        <p:nvSpPr>
          <p:cNvPr id="20" name="Shape 18"/>
          <p:cNvSpPr/>
          <p:nvPr/>
        </p:nvSpPr>
        <p:spPr>
          <a:xfrm>
            <a:off x="4535424" y="5779008"/>
            <a:ext cx="658368" cy="658368"/>
          </a:xfrm>
          <a:prstGeom prst="ellipse">
            <a:avLst/>
          </a:prstGeom>
          <a:solidFill>
            <a:srgbClr val="ECEFF1"/>
          </a:solidFill>
          <a:ln w="19050">
            <a:solidFill>
              <a:srgbClr val="1B3A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35424" y="5793639"/>
            <a:ext cx="658368" cy="6291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560">
                <a:solidFill>
                  <a:srgbClr val="000000"/>
                </a:solidFill>
              </a:rPr>
              <a:t>✉</a:t>
            </a:r>
            <a:endParaRPr lang="en-US" sz="2560"/>
          </a:p>
        </p:txBody>
      </p:sp>
      <p:sp>
        <p:nvSpPr>
          <p:cNvPr id="22" name="Text 20"/>
          <p:cNvSpPr/>
          <p:nvPr/>
        </p:nvSpPr>
        <p:spPr>
          <a:xfrm>
            <a:off x="5266944" y="5779008"/>
            <a:ext cx="2926080" cy="3218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4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Email</a:t>
            </a:r>
            <a:endParaRPr lang="en-US" sz="1440"/>
          </a:p>
        </p:txBody>
      </p:sp>
      <p:sp>
        <p:nvSpPr>
          <p:cNvPr id="23" name="Text 21"/>
          <p:cNvSpPr/>
          <p:nvPr/>
        </p:nvSpPr>
        <p:spPr>
          <a:xfrm>
            <a:off x="5266944" y="607161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6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[4thjunetriveni@]</a:t>
            </a:r>
            <a:endParaRPr lang="en-US" sz="1760" dirty="0"/>
          </a:p>
        </p:txBody>
      </p:sp>
      <p:sp>
        <p:nvSpPr>
          <p:cNvPr id="24" name="Shape 22"/>
          <p:cNvSpPr/>
          <p:nvPr/>
        </p:nvSpPr>
        <p:spPr>
          <a:xfrm>
            <a:off x="444355" y="7014466"/>
            <a:ext cx="658368" cy="658368"/>
          </a:xfrm>
          <a:prstGeom prst="ellipse">
            <a:avLst/>
          </a:prstGeom>
          <a:solidFill>
            <a:srgbClr val="ECEFF1"/>
          </a:solidFill>
          <a:ln w="19050">
            <a:solidFill>
              <a:srgbClr val="1B3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4355" y="7029096"/>
            <a:ext cx="658368" cy="6291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560">
                <a:solidFill>
                  <a:srgbClr val="000000"/>
                </a:solidFill>
              </a:rPr>
              <a:t>📖</a:t>
            </a:r>
            <a:endParaRPr lang="en-US" sz="2560"/>
          </a:p>
        </p:txBody>
      </p:sp>
      <p:sp>
        <p:nvSpPr>
          <p:cNvPr id="27" name="Text 25"/>
          <p:cNvSpPr/>
          <p:nvPr/>
        </p:nvSpPr>
        <p:spPr>
          <a:xfrm>
            <a:off x="1251732" y="7139635"/>
            <a:ext cx="4015211" cy="4242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/>
              <a:t>Guide Name- </a:t>
            </a:r>
            <a:r>
              <a:rPr lang="en-IN" sz="2000" b="1" dirty="0"/>
              <a:t>Uma Maheshwari</a:t>
            </a:r>
          </a:p>
          <a:p>
            <a:endParaRPr lang="en-US" sz="1760" dirty="0"/>
          </a:p>
        </p:txBody>
      </p:sp>
      <p:sp>
        <p:nvSpPr>
          <p:cNvPr id="28" name="Shape 26"/>
          <p:cNvSpPr/>
          <p:nvPr/>
        </p:nvSpPr>
        <p:spPr>
          <a:xfrm>
            <a:off x="0" y="7973568"/>
            <a:ext cx="14630400" cy="256032"/>
          </a:xfrm>
          <a:prstGeom prst="rect">
            <a:avLst/>
          </a:prstGeom>
          <a:solidFill>
            <a:srgbClr val="1B3A8A"/>
          </a:solidFill>
          <a:ln/>
        </p:spPr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12386-4513-F79F-81C4-2D3BE771282C}"/>
              </a:ext>
            </a:extLst>
          </p:cNvPr>
          <p:cNvSpPr txBox="1"/>
          <p:nvPr/>
        </p:nvSpPr>
        <p:spPr>
          <a:xfrm>
            <a:off x="184954" y="2450575"/>
            <a:ext cx="7349704" cy="118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8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AI-Driven Teaching Excellence Analyzer: Transforming student feedback into actionable insights for continuous educational improvement.</a:t>
            </a:r>
            <a:endParaRPr lang="en-US" sz="1800" dirty="0"/>
          </a:p>
        </p:txBody>
      </p:sp>
      <p:pic>
        <p:nvPicPr>
          <p:cNvPr id="29" name="Image 0" descr="preencoded.png">
            <a:extLst>
              <a:ext uri="{FF2B5EF4-FFF2-40B4-BE49-F238E27FC236}">
                <a16:creationId xmlns:a16="http://schemas.microsoft.com/office/drawing/2014/main" id="{29DDE17E-ECD5-C9AD-9BD7-3674ECE2F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2912" y="-551056"/>
            <a:ext cx="4974334" cy="8223890"/>
          </a:xfrm>
          <a:prstGeom prst="rect">
            <a:avLst/>
          </a:prstGeom>
        </p:spPr>
      </p:pic>
      <p:sp>
        <p:nvSpPr>
          <p:cNvPr id="31" name="Shape 9">
            <a:extLst>
              <a:ext uri="{FF2B5EF4-FFF2-40B4-BE49-F238E27FC236}">
                <a16:creationId xmlns:a16="http://schemas.microsoft.com/office/drawing/2014/main" id="{1260B72E-7D70-9366-6EF5-C50C32FC20AC}"/>
              </a:ext>
            </a:extLst>
          </p:cNvPr>
          <p:cNvSpPr/>
          <p:nvPr/>
        </p:nvSpPr>
        <p:spPr>
          <a:xfrm>
            <a:off x="9582912" y="95909"/>
            <a:ext cx="2255980" cy="3218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r>
              <a:rPr lang="en-IN" sz="2000" b="1" dirty="0">
                <a:latin typeface="Aharoni" panose="02010803020104030203" pitchFamily="2" charset="-79"/>
                <a:cs typeface="Aharoni" panose="02010803020104030203" pitchFamily="2" charset="-79"/>
              </a:rPr>
              <a:t>LinkedIn </a:t>
            </a:r>
            <a:r>
              <a:rPr lang="en-IN" sz="2000" b="1" dirty="0" err="1">
                <a:latin typeface="Aharoni" panose="02010803020104030203" pitchFamily="2" charset="-79"/>
                <a:cs typeface="Aharoni" panose="02010803020104030203" pitchFamily="2" charset="-79"/>
              </a:rPr>
              <a:t>edunet</a:t>
            </a:r>
            <a:endParaRPr lang="en-IN" sz="2000" b="1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07827"/>
            <a:ext cx="10466427" cy="6379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Challenges in Current Feedback Systems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93790" y="1713190"/>
            <a:ext cx="6429494" cy="1813679"/>
          </a:xfrm>
          <a:prstGeom prst="roundRect">
            <a:avLst>
              <a:gd name="adj" fmla="val 6050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0930" y="1713190"/>
            <a:ext cx="91440" cy="1813679"/>
          </a:xfrm>
          <a:prstGeom prst="roundRect">
            <a:avLst>
              <a:gd name="adj" fmla="val 200930"/>
            </a:avLst>
          </a:prstGeom>
          <a:solidFill>
            <a:srgbClr val="438951"/>
          </a:solidFill>
          <a:ln/>
        </p:spPr>
      </p:sp>
      <p:sp>
        <p:nvSpPr>
          <p:cNvPr id="5" name="Text 3"/>
          <p:cNvSpPr/>
          <p:nvPr/>
        </p:nvSpPr>
        <p:spPr>
          <a:xfrm>
            <a:off x="1073587" y="1780698"/>
            <a:ext cx="4167664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IN" sz="2000" b="1" i="1" dirty="0"/>
              <a:t>Lack of Multilingual Feedback Processing</a:t>
            </a:r>
            <a:endParaRPr lang="en-IN" sz="2000" i="1" dirty="0"/>
          </a:p>
        </p:txBody>
      </p:sp>
      <p:sp>
        <p:nvSpPr>
          <p:cNvPr id="6" name="Text 4"/>
          <p:cNvSpPr/>
          <p:nvPr/>
        </p:nvSpPr>
        <p:spPr>
          <a:xfrm>
            <a:off x="1089303" y="2099548"/>
            <a:ext cx="5907048" cy="153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IN" dirty="0"/>
              <a:t>The existing system does not support feedback submitted in </a:t>
            </a:r>
            <a:r>
              <a:rPr lang="en-IN" b="1" dirty="0"/>
              <a:t>regional or native languages</a:t>
            </a:r>
            <a:r>
              <a:rPr lang="en-IN" dirty="0"/>
              <a:t>, leading to the exclusion of a significant portion of student responses. This results in a </a:t>
            </a:r>
            <a:r>
              <a:rPr lang="en-IN" b="1" dirty="0"/>
              <a:t>representation bias</a:t>
            </a:r>
            <a:r>
              <a:rPr lang="en-IN" dirty="0"/>
              <a:t> and limits the inclusivity and comprehensiveness of the analysis. 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406997" y="1713190"/>
            <a:ext cx="6429613" cy="1813679"/>
          </a:xfrm>
          <a:prstGeom prst="roundRect">
            <a:avLst>
              <a:gd name="adj" fmla="val 6050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84137" y="1713190"/>
            <a:ext cx="91440" cy="1813679"/>
          </a:xfrm>
          <a:prstGeom prst="roundRect">
            <a:avLst>
              <a:gd name="adj" fmla="val 200930"/>
            </a:avLst>
          </a:prstGeom>
          <a:solidFill>
            <a:srgbClr val="438951"/>
          </a:solidFill>
          <a:ln/>
        </p:spPr>
      </p:sp>
      <p:sp>
        <p:nvSpPr>
          <p:cNvPr id="9" name="Text 7"/>
          <p:cNvSpPr/>
          <p:nvPr/>
        </p:nvSpPr>
        <p:spPr>
          <a:xfrm>
            <a:off x="7702510" y="1940123"/>
            <a:ext cx="3770471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Lack of Standardized Metrics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02510" y="2369106"/>
            <a:ext cx="5907167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No uniform framework for faculty evaluation makes comparative analysis difficult and subjective judgments more likely.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93790" y="3710583"/>
            <a:ext cx="6429494" cy="1813679"/>
          </a:xfrm>
          <a:prstGeom prst="roundRect">
            <a:avLst>
              <a:gd name="adj" fmla="val 6050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0930" y="3710583"/>
            <a:ext cx="91440" cy="1813679"/>
          </a:xfrm>
          <a:prstGeom prst="roundRect">
            <a:avLst>
              <a:gd name="adj" fmla="val 200930"/>
            </a:avLst>
          </a:prstGeom>
          <a:solidFill>
            <a:srgbClr val="438951"/>
          </a:solidFill>
          <a:ln/>
        </p:spPr>
      </p:sp>
      <p:sp>
        <p:nvSpPr>
          <p:cNvPr id="13" name="Text 11"/>
          <p:cNvSpPr/>
          <p:nvPr/>
        </p:nvSpPr>
        <p:spPr>
          <a:xfrm>
            <a:off x="1089303" y="3937516"/>
            <a:ext cx="4272915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500"/>
              </a:lnSpc>
            </a:pPr>
            <a:r>
              <a:rPr lang="en-IN" sz="2000" b="1" i="1" dirty="0"/>
              <a:t>Lack of Personalized Faculty Improvement Roadmaps</a:t>
            </a:r>
            <a:endParaRPr lang="en-US" sz="2400" i="1" dirty="0"/>
          </a:p>
        </p:txBody>
      </p:sp>
      <p:sp>
        <p:nvSpPr>
          <p:cNvPr id="14" name="Text 12"/>
          <p:cNvSpPr/>
          <p:nvPr/>
        </p:nvSpPr>
        <p:spPr>
          <a:xfrm>
            <a:off x="1089303" y="4366497"/>
            <a:ext cx="5907048" cy="1114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dirty="0"/>
              <a:t>The system identifies strengths and weaknesses but lacks personalized recommendations and development plans, limiting its effectiveness in improving teaching quality.</a:t>
            </a:r>
            <a:r>
              <a:rPr lang="en-US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.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7406997" y="3710583"/>
            <a:ext cx="6429613" cy="1813679"/>
          </a:xfrm>
          <a:prstGeom prst="roundRect">
            <a:avLst>
              <a:gd name="adj" fmla="val 6050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84137" y="3710583"/>
            <a:ext cx="91440" cy="1813679"/>
          </a:xfrm>
          <a:prstGeom prst="roundRect">
            <a:avLst>
              <a:gd name="adj" fmla="val 200930"/>
            </a:avLst>
          </a:prstGeom>
          <a:solidFill>
            <a:srgbClr val="438951"/>
          </a:solidFill>
          <a:ln/>
        </p:spPr>
      </p:sp>
      <p:sp>
        <p:nvSpPr>
          <p:cNvPr id="17" name="Text 15"/>
          <p:cNvSpPr/>
          <p:nvPr/>
        </p:nvSpPr>
        <p:spPr>
          <a:xfrm>
            <a:off x="7702510" y="3937516"/>
            <a:ext cx="328195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IN" b="1" i="1" dirty="0">
                <a:latin typeface="Fraunces Extra Bold" panose="020B0604020202020204" charset="0"/>
              </a:rPr>
              <a:t>Absence of Longitudinal Performance Tracking</a:t>
            </a:r>
            <a:endParaRPr lang="en-IN" i="1" dirty="0">
              <a:latin typeface="Fraunces Extra Bold" panose="020B06040202020202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702510" y="4366498"/>
            <a:ext cx="5907167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dirty="0"/>
              <a:t>The current design lacks long-term tracking of faculty performance across semesters, making it difficult to identify trends, improvements, or declines and limiting effective academic planning.</a:t>
            </a:r>
          </a:p>
        </p:txBody>
      </p:sp>
      <p:sp>
        <p:nvSpPr>
          <p:cNvPr id="19" name="Shape 17"/>
          <p:cNvSpPr/>
          <p:nvPr/>
        </p:nvSpPr>
        <p:spPr>
          <a:xfrm>
            <a:off x="793790" y="5707975"/>
            <a:ext cx="6429494" cy="1813679"/>
          </a:xfrm>
          <a:prstGeom prst="roundRect">
            <a:avLst>
              <a:gd name="adj" fmla="val 6050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0930" y="5707975"/>
            <a:ext cx="91440" cy="1813679"/>
          </a:xfrm>
          <a:prstGeom prst="roundRect">
            <a:avLst>
              <a:gd name="adj" fmla="val 200930"/>
            </a:avLst>
          </a:prstGeom>
          <a:solidFill>
            <a:srgbClr val="438951"/>
          </a:solidFill>
          <a:ln/>
        </p:spPr>
      </p:sp>
      <p:sp>
        <p:nvSpPr>
          <p:cNvPr id="21" name="Text 19"/>
          <p:cNvSpPr/>
          <p:nvPr/>
        </p:nvSpPr>
        <p:spPr>
          <a:xfrm>
            <a:off x="1089303" y="5934908"/>
            <a:ext cx="314479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No Continuous Tracking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89303" y="6363891"/>
            <a:ext cx="5907048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Faculty performance isn't monitored over time, preventing longitudinal improvement measurement and personalized development plans.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406997" y="5707975"/>
            <a:ext cx="6429613" cy="1813679"/>
          </a:xfrm>
          <a:prstGeom prst="roundRect">
            <a:avLst>
              <a:gd name="adj" fmla="val 6050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84137" y="5707975"/>
            <a:ext cx="91440" cy="1813679"/>
          </a:xfrm>
          <a:prstGeom prst="roundRect">
            <a:avLst>
              <a:gd name="adj" fmla="val 200930"/>
            </a:avLst>
          </a:prstGeom>
          <a:solidFill>
            <a:srgbClr val="438951"/>
          </a:solidFill>
          <a:ln/>
        </p:spPr>
      </p:sp>
      <p:sp>
        <p:nvSpPr>
          <p:cNvPr id="25" name="Text 23"/>
          <p:cNvSpPr/>
          <p:nvPr/>
        </p:nvSpPr>
        <p:spPr>
          <a:xfrm>
            <a:off x="7702510" y="5934908"/>
            <a:ext cx="4115276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Missing Real-Time Intervention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702510" y="6363891"/>
            <a:ext cx="5907167" cy="930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Without immediate feedback loops, opportunities for timely course correction and student support are lost during the semester.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85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86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7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88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89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90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91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92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0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0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0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0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0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11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20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20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7515454-0A0C-D5E0-C5AC-82D4AB1D2EE8}"/>
              </a:ext>
            </a:extLst>
          </p:cNvPr>
          <p:cNvSpPr txBox="1"/>
          <p:nvPr/>
        </p:nvSpPr>
        <p:spPr>
          <a:xfrm>
            <a:off x="5641675" y="807372"/>
            <a:ext cx="7315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  <a:latin typeface="Engravers MT" panose="02090707080505020304" pitchFamily="18" charset="0"/>
                <a:ea typeface="Fraunces Extra Bold" pitchFamily="34" charset="-122"/>
                <a:cs typeface="Fraunces Extra Bold" pitchFamily="34" charset="-120"/>
              </a:rPr>
              <a:t>Dashboard </a:t>
            </a:r>
            <a:endParaRPr lang="en-IN" sz="3600" dirty="0">
              <a:solidFill>
                <a:srgbClr val="FF0000"/>
              </a:solidFill>
              <a:latin typeface="Engravers MT" panose="020907070805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9DCEF4-29D4-17C5-1E74-B77C08009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782" y="1740508"/>
            <a:ext cx="11479227" cy="5887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62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93790" y="1429941"/>
            <a:ext cx="38988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Centralized Dashboard Interface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3896439"/>
            <a:ext cx="3898821" cy="290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An integrated analytics platform provides administrators and faculty with real-time visibility into teaching performance, student sentiment, and course effectiveness through intuitive visualizations and actionable metrics.</a:t>
            </a:r>
            <a:endParaRPr lang="en-US" sz="17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69B5C1-3E6D-7C5F-547B-2059D4B45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1115" y="1429941"/>
            <a:ext cx="9389609" cy="585075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14851"/>
            <a:ext cx="601420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Dashboard Snapshot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1990606"/>
            <a:ext cx="6379607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3.26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2565916" y="302240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750"/>
              </a:lnSpc>
            </a:pPr>
            <a:r>
              <a:rPr lang="en-IN" sz="2400" dirty="0"/>
              <a:t>Average Faculty Rating: 3.26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3512820"/>
            <a:ext cx="63796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Mean score across all courses and faculty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456884" y="1990606"/>
            <a:ext cx="6379726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1000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9172575" y="3022402"/>
            <a:ext cx="294834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750"/>
              </a:lnSpc>
            </a:pPr>
            <a:r>
              <a:rPr lang="en-IN" sz="2400" dirty="0"/>
              <a:t>Total Feedback Responses: 1000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56884" y="3512820"/>
            <a:ext cx="637972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Total student responses analyzed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93790" y="4244221"/>
            <a:ext cx="6379607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38.4%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2565916" y="527601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750"/>
              </a:lnSpc>
            </a:pPr>
            <a:r>
              <a:rPr lang="en-IN" sz="2400" dirty="0"/>
              <a:t>Clarity Issues Reported: 38.4%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93790" y="5766435"/>
            <a:ext cx="63796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Most frequently reported problem area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456885" y="4305263"/>
            <a:ext cx="6379726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850"/>
              </a:lnSpc>
            </a:pPr>
            <a:r>
              <a:rPr lang="en-US" sz="6000" dirty="0"/>
              <a:t>Top Faculty</a:t>
            </a:r>
            <a:endParaRPr lang="en-US" sz="5850" dirty="0"/>
          </a:p>
        </p:txBody>
      </p:sp>
      <p:sp>
        <p:nvSpPr>
          <p:cNvPr id="13" name="Text 11"/>
          <p:cNvSpPr/>
          <p:nvPr/>
        </p:nvSpPr>
        <p:spPr>
          <a:xfrm>
            <a:off x="9229130" y="527601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750"/>
              </a:lnSpc>
            </a:pPr>
            <a:r>
              <a:rPr lang="en-US" sz="2400" dirty="0"/>
              <a:t>Prof. Sharma Highest Performance Ranking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456884" y="5766435"/>
            <a:ext cx="637972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793790" y="6497869"/>
            <a:ext cx="13042821" cy="35957"/>
          </a:xfrm>
          <a:prstGeom prst="rect">
            <a:avLst/>
          </a:prstGeom>
          <a:solidFill>
            <a:srgbClr val="405449">
              <a:alpha val="5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793790" y="6788944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Course Excellence Index:</a:t>
            </a: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Data Structures course achieves highest ratings, demonstrating effective pedagogy and clear communication.</a:t>
            </a:r>
            <a:endParaRPr lang="en-US" sz="17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9" grpId="0" animBg="1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121593" y="202354"/>
            <a:ext cx="10955387" cy="1132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396975" y="1213328"/>
            <a:ext cx="6918225" cy="326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Comparative analysis reveals performance variations across teaching staff, enabling targeted professional development and recognition of excellence. The visualization identifies top performers while highlighting faculty requiring additional support or training resources.</a:t>
            </a:r>
            <a:endParaRPr lang="en-US" sz="2000" dirty="0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38071FDA-2C8D-249D-818F-FA7DEE503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2319333"/>
              </p:ext>
            </p:extLst>
          </p:nvPr>
        </p:nvGraphicFramePr>
        <p:xfrm>
          <a:off x="4930588" y="2886634"/>
          <a:ext cx="8677836" cy="48409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D5404A3D-57D2-ABAB-B04F-EBDF6699D6CA}"/>
              </a:ext>
            </a:extLst>
          </p:cNvPr>
          <p:cNvSpPr/>
          <p:nvPr/>
        </p:nvSpPr>
        <p:spPr>
          <a:xfrm>
            <a:off x="1673523" y="0"/>
            <a:ext cx="10403457" cy="1010974"/>
          </a:xfrm>
          <a:prstGeom prst="ellipse">
            <a:avLst/>
          </a:prstGeom>
          <a:ln>
            <a:solidFill>
              <a:schemeClr val="bg2">
                <a:lumMod val="90000"/>
              </a:schemeClr>
            </a:solidFill>
          </a:ln>
          <a:scene3d>
            <a:camera prst="orthographicFront"/>
            <a:lightRig rig="threePt" dir="t"/>
          </a:scene3d>
          <a:sp3d>
            <a:bevelT prst="convex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5550"/>
              </a:lnSpc>
            </a:pPr>
            <a:r>
              <a:rPr lang="en-US" sz="3600" b="1" i="1" dirty="0">
                <a:solidFill>
                  <a:schemeClr val="accent2">
                    <a:lumMod val="20000"/>
                    <a:lumOff val="80000"/>
                  </a:schemeClr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Faculty Performance Analysis</a:t>
            </a:r>
            <a:endParaRPr lang="en-US" sz="3600" i="1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211" y="0"/>
            <a:ext cx="6280189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826895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3811429"/>
            <a:ext cx="350150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400" dirty="0"/>
              <a:t>"Primary Issue Reported: Clarity (38.4%)"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4746903"/>
            <a:ext cx="35015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Students most frequently report difficulty understanding course material and explanations</a:t>
            </a: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.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4856320" y="3811428"/>
            <a:ext cx="3131739" cy="1173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400" dirty="0"/>
              <a:t>"</a:t>
            </a:r>
            <a:r>
              <a:rPr lang="en-US" sz="2400" b="1" dirty="0"/>
              <a:t>Secondary Issues</a:t>
            </a:r>
            <a:r>
              <a:rPr lang="en-US" sz="2400" dirty="0"/>
              <a:t>: </a:t>
            </a:r>
          </a:p>
          <a:p>
            <a:pPr>
              <a:lnSpc>
                <a:spcPts val="2750"/>
              </a:lnSpc>
            </a:pPr>
            <a:r>
              <a:rPr lang="en-US" sz="2400" dirty="0"/>
              <a:t>Engagement, pacing, </a:t>
            </a:r>
          </a:p>
          <a:p>
            <a:pPr>
              <a:lnSpc>
                <a:spcPts val="2750"/>
              </a:lnSpc>
            </a:pPr>
            <a:r>
              <a:rPr lang="en-US" sz="2400" dirty="0"/>
              <a:t>and assessment methods"</a:t>
            </a:r>
          </a:p>
        </p:txBody>
      </p:sp>
      <p:sp>
        <p:nvSpPr>
          <p:cNvPr id="7" name="Text 4"/>
          <p:cNvSpPr/>
          <p:nvPr/>
        </p:nvSpPr>
        <p:spPr>
          <a:xfrm>
            <a:off x="4848702" y="5313879"/>
            <a:ext cx="350150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Engagement, pacing, and assessment methods represent additional improvement opportunities.</a:t>
            </a:r>
            <a:endParaRPr lang="en-US" sz="1750" dirty="0"/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18854590-41D5-8114-7165-C8F1CC0F4FDA}"/>
              </a:ext>
            </a:extLst>
          </p:cNvPr>
          <p:cNvSpPr/>
          <p:nvPr/>
        </p:nvSpPr>
        <p:spPr>
          <a:xfrm>
            <a:off x="638355" y="891479"/>
            <a:ext cx="6676845" cy="1139608"/>
          </a:xfrm>
          <a:prstGeom prst="flowChartAlternateProcess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5550"/>
              </a:lnSpc>
            </a:pPr>
            <a:r>
              <a:rPr lang="en-US" sz="2800" b="1" dirty="0">
                <a:solidFill>
                  <a:schemeClr val="accent2">
                    <a:lumMod val="20000"/>
                    <a:lumOff val="80000"/>
                  </a:schemeClr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            Issue Category Distribution</a:t>
            </a:r>
            <a:endParaRPr lang="en-US" sz="2800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6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93790" y="1075492"/>
            <a:ext cx="3898821" cy="2835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461562" y="3352800"/>
            <a:ext cx="1641527" cy="4052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.</a:t>
            </a:r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3172FF-76A7-2906-1A70-C1DF2797A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839" y="1153479"/>
            <a:ext cx="9476227" cy="5922642"/>
          </a:xfrm>
          <a:prstGeom prst="rect">
            <a:avLst/>
          </a:prstGeom>
        </p:spPr>
      </p:pic>
      <p:sp>
        <p:nvSpPr>
          <p:cNvPr id="5" name="Flowchart: Punched Tape 4">
            <a:extLst>
              <a:ext uri="{FF2B5EF4-FFF2-40B4-BE49-F238E27FC236}">
                <a16:creationId xmlns:a16="http://schemas.microsoft.com/office/drawing/2014/main" id="{B8622CB9-50F3-1C4C-D8FE-230943FD98F3}"/>
              </a:ext>
            </a:extLst>
          </p:cNvPr>
          <p:cNvSpPr/>
          <p:nvPr/>
        </p:nvSpPr>
        <p:spPr>
          <a:xfrm>
            <a:off x="271780" y="353699"/>
            <a:ext cx="4753059" cy="2139351"/>
          </a:xfrm>
          <a:prstGeom prst="flowChartPunchedTap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5550"/>
              </a:lnSpc>
            </a:pPr>
            <a:r>
              <a:rPr lang="en-US" sz="3200" b="1" i="1" dirty="0">
                <a:solidFill>
                  <a:schemeClr val="accent2">
                    <a:lumMod val="20000"/>
                    <a:lumOff val="80000"/>
                  </a:schemeClr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Course Recommendation Analysis</a:t>
            </a:r>
            <a:endParaRPr lang="en-US" sz="3200" i="1" dirty="0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74A642D-5E37-209C-7E4F-96A8442C5B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" y="4721326"/>
            <a:ext cx="4420831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Strongest Recommendation: Data Structures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Mixed Satisfaction: Other courses need improvement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0098" y="797719"/>
            <a:ext cx="10625018" cy="661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Additional Enhancement Requirements</a:t>
            </a:r>
            <a:endParaRPr lang="en-US" sz="4150" dirty="0"/>
          </a:p>
        </p:txBody>
      </p:sp>
      <p:sp>
        <p:nvSpPr>
          <p:cNvPr id="3" name="Shape 1"/>
          <p:cNvSpPr/>
          <p:nvPr/>
        </p:nvSpPr>
        <p:spPr>
          <a:xfrm>
            <a:off x="780098" y="1854637"/>
            <a:ext cx="4224933" cy="3018949"/>
          </a:xfrm>
          <a:prstGeom prst="roundRect">
            <a:avLst>
              <a:gd name="adj" fmla="val 6313"/>
            </a:avLst>
          </a:prstGeom>
          <a:ln/>
          <a:effectLst>
            <a:reflection blurRad="6350" stA="50000" endA="300" endPos="55000" dir="5400000" sy="-100000" algn="bl" rotWithShape="0"/>
          </a:effectLst>
          <a:scene3d>
            <a:camera prst="perspectiveBelow"/>
            <a:lightRig rig="threePt" dir="t"/>
          </a:scene3d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</p:sp>
      <p:sp>
        <p:nvSpPr>
          <p:cNvPr id="4" name="Shape 2"/>
          <p:cNvSpPr/>
          <p:nvPr/>
        </p:nvSpPr>
        <p:spPr>
          <a:xfrm>
            <a:off x="991791" y="2066330"/>
            <a:ext cx="635198" cy="635198"/>
          </a:xfrm>
          <a:prstGeom prst="roundRect">
            <a:avLst>
              <a:gd name="adj" fmla="val 14394072"/>
            </a:avLst>
          </a:prstGeom>
          <a:solidFill>
            <a:srgbClr val="43895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66455" y="2240994"/>
            <a:ext cx="285869" cy="2858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91791" y="2899172"/>
            <a:ext cx="3801547" cy="661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Multilingual NLP Processing</a:t>
            </a:r>
            <a:endParaRPr lang="en-US" sz="2050" dirty="0"/>
          </a:p>
        </p:txBody>
      </p:sp>
      <p:sp>
        <p:nvSpPr>
          <p:cNvPr id="7" name="Text 4"/>
          <p:cNvSpPr/>
          <p:nvPr/>
        </p:nvSpPr>
        <p:spPr>
          <a:xfrm>
            <a:off x="991791" y="3679269"/>
            <a:ext cx="3801547" cy="982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Expand feedback analysis to regional languages, ensuring inclusive access for diverse student populations.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5349597" y="1854637"/>
            <a:ext cx="4224933" cy="3018949"/>
          </a:xfrm>
          <a:prstGeom prst="roundRect">
            <a:avLst>
              <a:gd name="adj" fmla="val 6313"/>
            </a:avLst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  <a:scene3d>
            <a:camera prst="perspectiveBelow"/>
            <a:lightRig rig="threePt" dir="t"/>
          </a:scene3d>
        </p:spPr>
      </p:sp>
      <p:sp>
        <p:nvSpPr>
          <p:cNvPr id="9" name="Shape 6"/>
          <p:cNvSpPr/>
          <p:nvPr/>
        </p:nvSpPr>
        <p:spPr>
          <a:xfrm>
            <a:off x="5414367" y="2066330"/>
            <a:ext cx="635198" cy="635198"/>
          </a:xfrm>
          <a:prstGeom prst="roundRect">
            <a:avLst>
              <a:gd name="adj" fmla="val 14394072"/>
            </a:avLst>
          </a:prstGeom>
          <a:solidFill>
            <a:srgbClr val="438951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89032" y="2240994"/>
            <a:ext cx="285869" cy="28586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14367" y="2899172"/>
            <a:ext cx="3801547" cy="661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Longitudinal Performance Tracking</a:t>
            </a:r>
            <a:endParaRPr lang="en-US" sz="2050" dirty="0"/>
          </a:p>
        </p:txBody>
      </p:sp>
      <p:sp>
        <p:nvSpPr>
          <p:cNvPr id="12" name="Text 8"/>
          <p:cNvSpPr/>
          <p:nvPr/>
        </p:nvSpPr>
        <p:spPr>
          <a:xfrm>
            <a:off x="5414367" y="3679269"/>
            <a:ext cx="3801547" cy="982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Monitor faculty development across semesters to measure improvement and identify persistent challenges.</a:t>
            </a:r>
            <a:endParaRPr lang="en-US" sz="1650" dirty="0"/>
          </a:p>
        </p:txBody>
      </p:sp>
      <p:sp>
        <p:nvSpPr>
          <p:cNvPr id="13" name="Shape 9"/>
          <p:cNvSpPr/>
          <p:nvPr/>
        </p:nvSpPr>
        <p:spPr>
          <a:xfrm>
            <a:off x="9836944" y="1854637"/>
            <a:ext cx="4224933" cy="3018949"/>
          </a:xfrm>
          <a:prstGeom prst="roundRect">
            <a:avLst>
              <a:gd name="adj" fmla="val 6313"/>
            </a:avLst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  <a:scene3d>
            <a:camera prst="perspectiveBelow"/>
            <a:lightRig rig="threePt" dir="t"/>
          </a:scene3d>
        </p:spPr>
      </p:sp>
      <p:sp>
        <p:nvSpPr>
          <p:cNvPr id="14" name="Shape 10"/>
          <p:cNvSpPr/>
          <p:nvPr/>
        </p:nvSpPr>
        <p:spPr>
          <a:xfrm>
            <a:off x="9836944" y="2066330"/>
            <a:ext cx="635198" cy="635198"/>
          </a:xfrm>
          <a:prstGeom prst="roundRect">
            <a:avLst>
              <a:gd name="adj" fmla="val 14394072"/>
            </a:avLst>
          </a:prstGeom>
          <a:solidFill>
            <a:srgbClr val="438951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11608" y="2240994"/>
            <a:ext cx="285869" cy="2858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36944" y="2899172"/>
            <a:ext cx="3542109" cy="330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Bias Detection Algorithms</a:t>
            </a:r>
            <a:endParaRPr lang="en-US" sz="2050" dirty="0"/>
          </a:p>
        </p:txBody>
      </p:sp>
      <p:sp>
        <p:nvSpPr>
          <p:cNvPr id="17" name="Text 12"/>
          <p:cNvSpPr/>
          <p:nvPr/>
        </p:nvSpPr>
        <p:spPr>
          <a:xfrm>
            <a:off x="9836944" y="3348514"/>
            <a:ext cx="3801547" cy="982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Identify and correct bias patterns in anonymous feedback to ensure fair and accurate evaluations.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780098" y="5071229"/>
            <a:ext cx="6436162" cy="2360652"/>
          </a:xfrm>
          <a:prstGeom prst="roundRect">
            <a:avLst>
              <a:gd name="adj" fmla="val 8073"/>
            </a:avLst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  <a:scene3d>
            <a:camera prst="perspectiveBelow"/>
            <a:lightRig rig="threePt" dir="t"/>
          </a:scene3d>
        </p:spPr>
      </p:sp>
      <p:sp>
        <p:nvSpPr>
          <p:cNvPr id="19" name="Shape 14"/>
          <p:cNvSpPr/>
          <p:nvPr/>
        </p:nvSpPr>
        <p:spPr>
          <a:xfrm>
            <a:off x="991791" y="5282922"/>
            <a:ext cx="635198" cy="635198"/>
          </a:xfrm>
          <a:prstGeom prst="roundRect">
            <a:avLst>
              <a:gd name="adj" fmla="val 14394072"/>
            </a:avLst>
          </a:prstGeom>
          <a:solidFill>
            <a:srgbClr val="438951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6455" y="5457587"/>
            <a:ext cx="285869" cy="28586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91791" y="6115764"/>
            <a:ext cx="4463653" cy="330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Personalized Improvement Plans</a:t>
            </a:r>
            <a:endParaRPr lang="en-US" sz="2050" dirty="0"/>
          </a:p>
        </p:txBody>
      </p:sp>
      <p:sp>
        <p:nvSpPr>
          <p:cNvPr id="22" name="Text 16"/>
          <p:cNvSpPr/>
          <p:nvPr/>
        </p:nvSpPr>
        <p:spPr>
          <a:xfrm>
            <a:off x="991791" y="6565106"/>
            <a:ext cx="6012775" cy="655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Generate customized professional development recommendations based on individual performance data.</a:t>
            </a:r>
            <a:endParaRPr lang="en-US" sz="1650" dirty="0"/>
          </a:p>
        </p:txBody>
      </p:sp>
      <p:sp>
        <p:nvSpPr>
          <p:cNvPr id="23" name="Shape 17"/>
          <p:cNvSpPr/>
          <p:nvPr/>
        </p:nvSpPr>
        <p:spPr>
          <a:xfrm>
            <a:off x="7413903" y="5071229"/>
            <a:ext cx="6436281" cy="2360652"/>
          </a:xfrm>
          <a:prstGeom prst="roundRect">
            <a:avLst>
              <a:gd name="adj" fmla="val 8073"/>
            </a:avLst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  <a:scene3d>
            <a:camera prst="perspectiveBelow"/>
            <a:lightRig rig="threePt" dir="t"/>
          </a:scene3d>
        </p:spPr>
      </p:sp>
      <p:sp>
        <p:nvSpPr>
          <p:cNvPr id="24" name="Shape 18"/>
          <p:cNvSpPr/>
          <p:nvPr/>
        </p:nvSpPr>
        <p:spPr>
          <a:xfrm>
            <a:off x="7625596" y="5282922"/>
            <a:ext cx="635198" cy="635198"/>
          </a:xfrm>
          <a:prstGeom prst="roundRect">
            <a:avLst>
              <a:gd name="adj" fmla="val 14394072"/>
            </a:avLst>
          </a:prstGeom>
          <a:solidFill>
            <a:srgbClr val="438951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00261" y="5457587"/>
            <a:ext cx="285869" cy="285869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625596" y="6115764"/>
            <a:ext cx="3897868" cy="330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Real-Time Feedback Systems</a:t>
            </a:r>
            <a:endParaRPr lang="en-US" sz="2050" dirty="0"/>
          </a:p>
        </p:txBody>
      </p:sp>
      <p:sp>
        <p:nvSpPr>
          <p:cNvPr id="27" name="Text 20"/>
          <p:cNvSpPr/>
          <p:nvPr/>
        </p:nvSpPr>
        <p:spPr>
          <a:xfrm>
            <a:off x="7625596" y="6565106"/>
            <a:ext cx="6012894" cy="655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Enable mid-semester interventions through continuous feedback collection and immediate alerts.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7956" y="807244"/>
            <a:ext cx="6782157" cy="703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Key Insights &amp; Findings</a:t>
            </a:r>
            <a:endParaRPr lang="en-US" sz="4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956" y="1957864"/>
            <a:ext cx="6527244" cy="9005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13103" y="3081933"/>
            <a:ext cx="3314224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Excellence Recognition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13103" y="3567827"/>
            <a:ext cx="6076950" cy="107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Prof. Sharma demonstrates outstanding teaching performance, setting benchmark for faculty development programs.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957864"/>
            <a:ext cx="6527244" cy="90058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40347" y="3081933"/>
            <a:ext cx="3516987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Communication Priority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7540347" y="3567827"/>
            <a:ext cx="6076950" cy="1076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Clarity issues dominate feedback, requiring focused faculty training on explanation techniques and accessibility.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956" y="4869537"/>
            <a:ext cx="6527244" cy="900589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13103" y="5993606"/>
            <a:ext cx="2814399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Course Model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1013103" y="6479500"/>
            <a:ext cx="6076950" cy="717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Data Structures course represents best practice example for curriculum design and instructional delivery.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4869537"/>
            <a:ext cx="6527244" cy="90058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540347" y="5993606"/>
            <a:ext cx="3816906" cy="3518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05449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Improvement Opportunity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7540347" y="6479500"/>
            <a:ext cx="6076950" cy="717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Mixed course recommendations signal need for systematic quality enhancement initiatives.</a:t>
            </a:r>
            <a:endParaRPr lang="en-US" sz="1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6D640E8-E014-A1B5-C881-BF89764F5F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044" y="1897810"/>
            <a:ext cx="12417726" cy="61103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EF159C2-F51B-7ED4-8E7C-30EB410DC067}"/>
              </a:ext>
            </a:extLst>
          </p:cNvPr>
          <p:cNvSpPr txBox="1"/>
          <p:nvPr/>
        </p:nvSpPr>
        <p:spPr>
          <a:xfrm>
            <a:off x="3312543" y="514073"/>
            <a:ext cx="7315200" cy="523220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lang="en-US" sz="2800" dirty="0">
                <a:latin typeface="Algerian" panose="04020705040A02060702" pitchFamily="82" charset="0"/>
              </a:rPr>
              <a:t>Key Benefits of the Proposed System</a:t>
            </a:r>
            <a:endParaRPr lang="en-IN" sz="2800" dirty="0">
              <a:latin typeface="Algerian" panose="04020705040A020607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1956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ank You PowerPoint Templates – Free Closing Slides &amp; Images">
            <a:extLst>
              <a:ext uri="{FF2B5EF4-FFF2-40B4-BE49-F238E27FC236}">
                <a16:creationId xmlns:a16="http://schemas.microsoft.com/office/drawing/2014/main" id="{0659E9FA-91ED-D464-CEBE-69780E423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0770"/>
            <a:ext cx="14630400" cy="8108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6771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602</Words>
  <Application>Microsoft Office PowerPoint</Application>
  <PresentationFormat>Custom</PresentationFormat>
  <Paragraphs>86</Paragraphs>
  <Slides>12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Calibri</vt:lpstr>
      <vt:lpstr>Nobile</vt:lpstr>
      <vt:lpstr>Engravers MT</vt:lpstr>
      <vt:lpstr>Arial</vt:lpstr>
      <vt:lpstr>Fraunces Extra Bold</vt:lpstr>
      <vt:lpstr>Aharoni</vt:lpstr>
      <vt:lpstr>Algerian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triveni Masti</cp:lastModifiedBy>
  <cp:revision>25</cp:revision>
  <dcterms:created xsi:type="dcterms:W3CDTF">2026-04-04T08:34:19Z</dcterms:created>
  <dcterms:modified xsi:type="dcterms:W3CDTF">2026-04-15T12:24:11Z</dcterms:modified>
</cp:coreProperties>
</file>